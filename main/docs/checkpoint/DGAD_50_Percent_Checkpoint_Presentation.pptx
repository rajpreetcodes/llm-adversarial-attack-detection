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3a500627104646" /><Relationship Type="http://schemas.openxmlformats.org/officeDocument/2006/relationships/extended-properties" Target="/docProps/app.xml" Id="R75cd220c00a14dea" /><Relationship Type="http://schemas.openxmlformats.org/officeDocument/2006/relationships/officeDocument" Target="/ppt/presentation.xml" Id="R5a060eae2a2845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5e67931abe432c"/>
  </p:sldMasterIdLst>
  <p:notesMasterIdLst>
    <p:notesMasterId xmlns:r="http://schemas.openxmlformats.org/officeDocument/2006/relationships" r:id="R4ef2db7f5b2942f1"/>
  </p:notesMasterIdLst>
  <p:sldIdLst>
    <p:sldId xmlns:r="http://schemas.openxmlformats.org/officeDocument/2006/relationships" id="256" r:id="Rb3e6136bb4fb4196"/>
    <p:sldId xmlns:r="http://schemas.openxmlformats.org/officeDocument/2006/relationships" id="257" r:id="Rdf9dfef4fb9b48e9"/>
    <p:sldId xmlns:r="http://schemas.openxmlformats.org/officeDocument/2006/relationships" id="258" r:id="Rf05771e8298343bc"/>
    <p:sldId xmlns:r="http://schemas.openxmlformats.org/officeDocument/2006/relationships" id="259" r:id="R5c3484ee825d4782"/>
    <p:sldId xmlns:r="http://schemas.openxmlformats.org/officeDocument/2006/relationships" id="260" r:id="R4d451c42af6f4418"/>
    <p:sldId xmlns:r="http://schemas.openxmlformats.org/officeDocument/2006/relationships" id="261" r:id="R659901a9bcb24f99"/>
    <p:sldId xmlns:r="http://schemas.openxmlformats.org/officeDocument/2006/relationships" id="262" r:id="R408168d582624462"/>
    <p:sldId xmlns:r="http://schemas.openxmlformats.org/officeDocument/2006/relationships" id="263" r:id="Rb1519b92cd1f4fbb"/>
    <p:sldId xmlns:r="http://schemas.openxmlformats.org/officeDocument/2006/relationships" id="264" r:id="R972e792cfc0f4861"/>
    <p:sldId xmlns:r="http://schemas.openxmlformats.org/officeDocument/2006/relationships" id="265" r:id="Rc2cf18e2910f4b18"/>
    <p:sldId xmlns:r="http://schemas.openxmlformats.org/officeDocument/2006/relationships" id="266" r:id="R4ae9a1631cec4208"/>
    <p:sldId xmlns:r="http://schemas.openxmlformats.org/officeDocument/2006/relationships" id="267" r:id="Rfd930f2615fa4692"/>
    <p:sldId xmlns:r="http://schemas.openxmlformats.org/officeDocument/2006/relationships" id="268" r:id="R26bc9d4a886d45f0"/>
    <p:sldId xmlns:r="http://schemas.openxmlformats.org/officeDocument/2006/relationships" id="269" r:id="Rc3310b7ac41743b4"/>
    <p:sldId xmlns:r="http://schemas.openxmlformats.org/officeDocument/2006/relationships" id="270" r:id="R6b9af8638ee647a2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604147235e4b48" /><Relationship Type="http://schemas.openxmlformats.org/officeDocument/2006/relationships/slideMaster" Target="/ppt/slideMasters/slideMaster1.xml" Id="R6c5e67931abe432c" /><Relationship Type="http://schemas.openxmlformats.org/officeDocument/2006/relationships/notesMaster" Target="/ppt/notesMasters/notesMaster1.xml" Id="R4ef2db7f5b2942f1" /><Relationship Type="http://schemas.openxmlformats.org/officeDocument/2006/relationships/presProps" Target="/ppt/presProps.xml" Id="R978178ab5ea74ddd" /><Relationship Type="http://schemas.openxmlformats.org/officeDocument/2006/relationships/tableStyles" Target="/ppt/tableStyles.xml" Id="R4e08b99aea784ac4" /><Relationship Type="http://schemas.openxmlformats.org/officeDocument/2006/relationships/slide" Target="/ppt/slides/slide1.xml" Id="Rb3e6136bb4fb4196" /><Relationship Type="http://schemas.openxmlformats.org/officeDocument/2006/relationships/slide" Target="/ppt/slides/slide2.xml" Id="Rdf9dfef4fb9b48e9" /><Relationship Type="http://schemas.openxmlformats.org/officeDocument/2006/relationships/slide" Target="/ppt/slides/slide3.xml" Id="Rf05771e8298343bc" /><Relationship Type="http://schemas.openxmlformats.org/officeDocument/2006/relationships/slide" Target="/ppt/slides/slide4.xml" Id="R5c3484ee825d4782" /><Relationship Type="http://schemas.openxmlformats.org/officeDocument/2006/relationships/slide" Target="/ppt/slides/slide5.xml" Id="R4d451c42af6f4418" /><Relationship Type="http://schemas.openxmlformats.org/officeDocument/2006/relationships/slide" Target="/ppt/slides/slide6.xml" Id="R659901a9bcb24f99" /><Relationship Type="http://schemas.openxmlformats.org/officeDocument/2006/relationships/slide" Target="/ppt/slides/slide7.xml" Id="R408168d582624462" /><Relationship Type="http://schemas.openxmlformats.org/officeDocument/2006/relationships/slide" Target="/ppt/slides/slide8.xml" Id="Rb1519b92cd1f4fbb" /><Relationship Type="http://schemas.openxmlformats.org/officeDocument/2006/relationships/slide" Target="/ppt/slides/slide9.xml" Id="R972e792cfc0f4861" /><Relationship Type="http://schemas.openxmlformats.org/officeDocument/2006/relationships/slide" Target="/ppt/slides/slide10.xml" Id="Rc2cf18e2910f4b18" /><Relationship Type="http://schemas.openxmlformats.org/officeDocument/2006/relationships/slide" Target="/ppt/slides/slide11.xml" Id="R4ae9a1631cec4208" /><Relationship Type="http://schemas.openxmlformats.org/officeDocument/2006/relationships/slide" Target="/ppt/slides/slide12.xml" Id="Rfd930f2615fa4692" /><Relationship Type="http://schemas.openxmlformats.org/officeDocument/2006/relationships/slide" Target="/ppt/slides/slide13.xml" Id="R26bc9d4a886d45f0" /><Relationship Type="http://schemas.openxmlformats.org/officeDocument/2006/relationships/slide" Target="/ppt/slides/slide14.xml" Id="Rc3310b7ac41743b4" /><Relationship Type="http://schemas.openxmlformats.org/officeDocument/2006/relationships/slide" Target="/ppt/slides/slide15.xml" Id="R6b9af8638ee647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6c120d5d1d46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fd10b8e9f444b2" /><Relationship Type="http://schemas.openxmlformats.org/officeDocument/2006/relationships/notesMaster" Target="/ppt/notesMasters/notesMaster1.xml" Id="R561ae1d65c9249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46ac25997d4f57" /><Relationship Type="http://schemas.openxmlformats.org/officeDocument/2006/relationships/notesMaster" Target="/ppt/notesMasters/notesMaster1.xml" Id="R8af75f291abd44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15dd22d98e49a6" /><Relationship Type="http://schemas.openxmlformats.org/officeDocument/2006/relationships/notesMaster" Target="/ppt/notesMasters/notesMaster1.xml" Id="R997cacd6e3e744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4e9a9f44cb412b" /><Relationship Type="http://schemas.openxmlformats.org/officeDocument/2006/relationships/notesMaster" Target="/ppt/notesMasters/notesMaster1.xml" Id="R015fb85101ee49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93a7ef04294baf" /><Relationship Type="http://schemas.openxmlformats.org/officeDocument/2006/relationships/notesMaster" Target="/ppt/notesMasters/notesMaster1.xml" Id="Rcb3111d366f149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6a4420640d4785" /><Relationship Type="http://schemas.openxmlformats.org/officeDocument/2006/relationships/notesMaster" Target="/ppt/notesMasters/notesMaster1.xml" Id="Rf3c35b0be97244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d840687a8d4b7d" /><Relationship Type="http://schemas.openxmlformats.org/officeDocument/2006/relationships/notesMaster" Target="/ppt/notesMasters/notesMaster1.xml" Id="R4282bd72579040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828557f9f6429a" /><Relationship Type="http://schemas.openxmlformats.org/officeDocument/2006/relationships/notesMaster" Target="/ppt/notesMasters/notesMaster1.xml" Id="R67e573596ac248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eb15065e83456b" /><Relationship Type="http://schemas.openxmlformats.org/officeDocument/2006/relationships/notesMaster" Target="/ppt/notesMasters/notesMaster1.xml" Id="R820a3ec2569141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c03cb63ada4785" /><Relationship Type="http://schemas.openxmlformats.org/officeDocument/2006/relationships/notesMaster" Target="/ppt/notesMasters/notesMaster1.xml" Id="Rb7c971de583749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a2e3241e634fae" /><Relationship Type="http://schemas.openxmlformats.org/officeDocument/2006/relationships/notesMaster" Target="/ppt/notesMasters/notesMaster1.xml" Id="Rbb5f8cec5e0341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38c54981fe4ed4" /><Relationship Type="http://schemas.openxmlformats.org/officeDocument/2006/relationships/notesMaster" Target="/ppt/notesMasters/notesMaster1.xml" Id="R99cd49fc989a44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04fcc678d8488d" /><Relationship Type="http://schemas.openxmlformats.org/officeDocument/2006/relationships/notesMaster" Target="/ppt/notesMasters/notesMaster1.xml" Id="R14370c5cbd8346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a5b3bd360048f0" /><Relationship Type="http://schemas.openxmlformats.org/officeDocument/2006/relationships/notesMaster" Target="/ppt/notesMasters/notesMaster1.xml" Id="R31c3cce30e694d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ee249e907741f0" /><Relationship Type="http://schemas.openxmlformats.org/officeDocument/2006/relationships/notesMaster" Target="/ppt/notesMasters/notesMaster1.xml" Id="R8c922131bc0643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problem, then set the evidence boundary: this is a 50% checkpoint. The system design and source implementation exist, while clean end-to-end validation remains in progress.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map to signal a disciplined progression: research basis, system design, then evidence and remaining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disagreement as a maliciousness label. It is a routing event. Harmless technical text can also make detectors disagree.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comparison must include Channel A, Channel B, naive mean or max fusion, and a validated escalation policy on a locked holdout.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URLs: Zou https://arxiv.org/abs/2307.15043; Perez and Ribeiro https://arxiv.org/abs/2211.09527; Liu https://arxiv.org/abs/2310.04451; Jain https://arxiv.org/abs/2309.00614; Li and Liu https://arxiv.org/abs/2410.22770.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asked what is novel, say the proposed contribution is the tested control policy and empirical comparison, not the individual detector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scope narrow in the viva. Mission E is a repository extension, but the minimum checkpoint question is A/B routing to C/D.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source pipeline calls cheap channels in a serial loop. The parallel design shown later is a target architecture until the implementation and measurements confirm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Values shown exactly from dgad-repo/main/results/ablation.csv: A 0.5986377815, B 0.8580390298, naive mean 0.8463715572, dgad_offset/full 0.7438029233. Provenance audit found mixed n=7969, 7950 and 34 artifacts; do not call this a validated holdout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source contract names are score, decide, and detect. The full class, state and failure-policy diagrams are documented in DGAD_Design_Checkpoint.md.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source now requires healthy A/B evidence and fails closed when the escalation tier degrades. Do not imply that cheap-channel execution is parallel or that the observed laptop latency meets the production target.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dataset build: 93,211 raw records, 53,428 after deduplication; train 32,077, validation 8,007, test 8,007, holdout 5,337; zero normalised cross-split duplicates. Full suite: 100 tests passed; mypy and dashboard production build passed. Channel B MiniLM trained on 3,000 seeded rows and reached test ROC-AUC 0.8604 (95% bootstrap CI 0.8529–0.8685). Channel A remains feature-only with GPT-2 pending. NotInject test FPR is 39.47%, a checkpoint weakness requiring targeted hard negatives.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Provenance mismatch: ablation.csv has n=7969; recomputed channel score files have n=7950; most gated score files have n=34. run_meta does not reconcile these artifacts. This blocks validated comparisons.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URLs: [1] https://arxiv.org/abs/2307.15043 [2] https://arxiv.org/abs/2211.09527 [3] https://arxiv.org/abs/2310.04451 [4] https://arxiv.org/abs/2309.00614 [5] https://arxiv.org/abs/2410.22770 [6] https://arxiv.org/abs/2310.08419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questions on the research hypothesis, evidence plan, or implementation delta. Do not promise a live demo unless the current environment has been tested immediately before the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85481505d94e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eec272dfea4270" /><Relationship Type="http://schemas.openxmlformats.org/officeDocument/2006/relationships/slideLayout" Target="/ppt/slideLayouts/slideLayout1.xml" Id="R6c027771565f40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027771565f40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6964313fd41d2" /><Relationship Type="http://schemas.openxmlformats.org/officeDocument/2006/relationships/notesSlide" Target="/ppt/notesSlides/notesSlide1.xml" Id="R8ca9dcbbfa8047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4acb56b7442a9" /><Relationship Type="http://schemas.openxmlformats.org/officeDocument/2006/relationships/notesSlide" Target="/ppt/notesSlides/notesSlide2.xml" Id="R807df5c649c94b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c8603607b4bea" /><Relationship Type="http://schemas.openxmlformats.org/officeDocument/2006/relationships/notesSlide" Target="/ppt/notesSlides/notesSlide3.xml" Id="R058033da926048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d22744fea4b3d" /><Relationship Type="http://schemas.openxmlformats.org/officeDocument/2006/relationships/notesSlide" Target="/ppt/notesSlides/notesSlide4.xml" Id="R4faeb66ace7f4e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770b599084718" /><Relationship Type="http://schemas.openxmlformats.org/officeDocument/2006/relationships/notesSlide" Target="/ppt/notesSlides/notesSlide5.xml" Id="R38f50d21d7a24b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a3b4c20e14163" /><Relationship Type="http://schemas.openxmlformats.org/officeDocument/2006/relationships/notesSlide" Target="/ppt/notesSlides/notesSlide6.xml" Id="Re0ebcbca17d44a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f9242f5684da6" /><Relationship Type="http://schemas.openxmlformats.org/officeDocument/2006/relationships/notesSlide" Target="/ppt/notesSlides/notesSlide7.xml" Id="R50b27460277e4e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d956776be4fb8" /><Relationship Type="http://schemas.openxmlformats.org/officeDocument/2006/relationships/notesSlide" Target="/ppt/notesSlides/notesSlide8.xml" Id="R0b255504653348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f19e377bb4f62" /><Relationship Type="http://schemas.openxmlformats.org/officeDocument/2006/relationships/chart" Target="/ppt/slides/charts/chart1.xml" Id="R1bc1f9b9ae5d4992" /><Relationship Type="http://schemas.openxmlformats.org/officeDocument/2006/relationships/notesSlide" Target="/ppt/notesSlides/notesSlide9.xml" Id="R37081e1edb774b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25a12c32e4708" /><Relationship Type="http://schemas.openxmlformats.org/officeDocument/2006/relationships/notesSlide" Target="/ppt/notesSlides/notesSlide10.xml" Id="Rf8421dba5ee644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99090a8694b21" /><Relationship Type="http://schemas.openxmlformats.org/officeDocument/2006/relationships/notesSlide" Target="/ppt/notesSlides/notesSlide11.xml" Id="Rb0a3aad0d2324f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be0bed9c6438b" /><Relationship Type="http://schemas.openxmlformats.org/officeDocument/2006/relationships/notesSlide" Target="/ppt/notesSlides/notesSlide12.xml" Id="Ra19eaceba8ae4b0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d2af2bee64d62" /><Relationship Type="http://schemas.openxmlformats.org/officeDocument/2006/relationships/notesSlide" Target="/ppt/notesSlides/notesSlide13.xml" Id="Rd3b156dac43d4a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3ec9c86174036" /><Relationship Type="http://schemas.openxmlformats.org/officeDocument/2006/relationships/notesSlide" Target="/ppt/notesSlides/notesSlide14.xml" Id="R0f6d6b5d8b25439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b35c70ad44115" /><Relationship Type="http://schemas.openxmlformats.org/officeDocument/2006/relationships/notesSlide" Target="/ppt/notesSlides/notesSlide15.xml" Id="R1b53a0316356487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ROC-AUC</c:v>
          </c:tx>
          <c:spPr>
            <a:solidFill xmlns:a="http://schemas.openxmlformats.org/drawingml/2006/main">
              <a:srgbClr val="B71C1C"/>
            </a:solidFill>
          </c:spPr>
          <c:cat>
            <c:strRef>
              <c:f>'Chart Data'!$A$2:$A$5</c:f>
              <c:strCache>
                <c:ptCount val="4"/>
                <c:pt idx="0">
                  <c:v>Channel A</c:v>
                </c:pt>
                <c:pt idx="1">
                  <c:v>Channel B</c:v>
                </c:pt>
                <c:pt idx="2">
                  <c:v>Naive mean</c:v>
                </c:pt>
                <c:pt idx="3">
                  <c:v>Cached gate + offset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0.5986377815</c:v>
                </c:pt>
                <c:pt idx="1">
                  <c:v>0.8580390298</c:v>
                </c:pt>
                <c:pt idx="2">
                  <c:v>0.8463715572</c:v>
                </c:pt>
                <c:pt idx="3">
                  <c:v>0.7438029233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A27FD-C24E-4C15-BE02-E77DE061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70EEA-9EA1-4A9B-AB91-81D12181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96500"/>
            <a:ext cx="1828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0ED31-41B7-455A-A725-387CC9D6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4850"/>
            <a:ext cx="1524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SVKM’S NMIMS · MUKESH PATEL SCHOOL OF TECHNOLOGY MANAGEMENT &amp;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65531-7AA0-4148-B7CE-1A1F3F42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076325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DEPARTMENT OF INFORMATION TECHNOLOGY · CAPSTONE PROJECT 50% CHECKPOINT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9F746-5C49-472E-8C4E-5C092886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14625"/>
            <a:ext cx="1466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Adversarial Attack Detection for</a:t>
            </a:r>
          </a:p>
          <a:p xmlns:a="http://schemas.openxmlformats.org/drawingml/2006/main">
            <a:pPr>
              <a:defRPr sz="4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Large Language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A63F6-6916-4613-8083-88988E32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1362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8F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8F83"/>
                </a:solidFill>
                <a:latin typeface="Arial"/>
                <a:ea typeface="Arial"/>
                <a:cs typeface="Arial"/>
              </a:rPr>
              <a:t>DGAD · Disagreement-Gated Adaptive Detection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A1AAC-F1CD-4BD6-8645-29AC2703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67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PROJECT TEAM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656A0-3595-4379-BAB6-0114105E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86600"/>
            <a:ext cx="685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Rajpreet Singh Khurana (K033)</a:t>
            </a:r>
          </a:p>
          <a:p xmlns:a="http://schemas.openxmlformats.org/drawingml/2006/main">
            <a: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Dhruv Rathod (K055)</a:t>
            </a:r>
          </a:p>
          <a:p xmlns:a="http://schemas.openxmlformats.org/drawingml/2006/main">
            <a:pPr>
              <a:defRPr sz="195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Sumit Pandey (K044)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3FCEF-A576-465E-B0B7-EEE7256A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675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UNDER THE SUPERVISION 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AE284-6750-46DA-AD6E-21AEAD15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0866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Dr. Ruchi Sharma</a:t>
            </a:r>
          </a:p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Associate Professor, Department of IT</a:t>
            </a:r>
          </a:p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MPSTME, Mumbai Campus</a:t>
            </a:r>
          </a:p>
        </p:txBody>
      </p:sp>
    </p:spTree>
    <p:extLst>
      <p:ext uri="{BB962C8B-B14F-4D97-AF65-F5344CB8AC3E}">
        <p14:creationId xmlns:p14="http://schemas.microsoft.com/office/powerpoint/2010/main" val="1103910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022A93-4A89-4DD2-9F5E-E8B1E73C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181C3-CB3B-44BB-9F60-B62BB92C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11555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6B45D-8F3D-401C-BC43-6B157155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MUKESH PATEL SCHOOL OF TECHNOLOGY MANAGEMENT &amp;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B5F8A-FE68-41ED-9762-DFDFE844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SVKM’s NMIMS · DEPARTMENT OF INFORMATION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97152-3E15-41E3-A9D5-8B3830DF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9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CAPSTONE PROJECT · 50% CHECKPOINT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77831-E4E4-4B0B-8110-9B395B09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581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Presentation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C1E22-4E4F-4908-9984-0F5D4A28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581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F"/>
          </a:solidFill>
          <a:ln xmlns:a="http://schemas.openxmlformats.org/drawingml/2006/main" w="0">
            <a:solidFill>
              <a:srgbClr val="D8DAD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C5C7F-EE13-4AF7-8673-2D0A36AB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0B443-7304-4160-978C-A2220A34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098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4D727-DF0D-4FE1-80F8-88D07BEF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809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C3AFF-21F2-4CCF-AD7F-C34CFA71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4572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DAF90-B7A2-45E6-A0A4-C694BA3B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814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01  Threat landscape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9CD34-0937-4E38-9DDB-9824EB81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4572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BE55B-7237-4D4E-8F82-98FC8E0F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720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02  Problem definition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646FB7-71A2-4F03-BE6E-DEA6B623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4572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6C4DB-3D29-4D09-A36A-2FA90DC6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9626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03  Literature foundations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6A6AA-E2CB-4F1B-9748-CA6B8858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905625"/>
            <a:ext cx="4572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B57D03-1251-480A-A51D-08AAEEA8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1532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04  Research question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E5F19-4615-422F-AA4B-1D0C9B22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33750"/>
            <a:ext cx="4572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25551-1684-4684-9D20-486B15A1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5814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05  Objectives and scope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D764BF-D734-4965-B30E-85FBAFA6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524375"/>
            <a:ext cx="4572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F64FCF-A6C7-4102-A3C1-879EE980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7720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06  Tools and implementation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1A8C14-B7E0-49B7-8C1D-5913B9ED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715000"/>
            <a:ext cx="4572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042ED6-9B00-4F0E-A115-C8619F3F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9626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07  Component and class design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F361DD-4776-494F-8527-5BBEB146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905625"/>
            <a:ext cx="4572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A7D5FE-1A7A-45EC-9047-C4F32823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71532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08  Behavioural 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E230E6-06B4-46FB-B1CB-F7CF21F9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333750"/>
            <a:ext cx="4572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3E1606-E1E3-4535-BC71-9AE1EDF1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35814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09  Committed ablation snapshot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53CF8B-8648-4567-A3CB-874C83B0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524375"/>
            <a:ext cx="4572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4D0CEA-B997-42F0-8418-93E9D24E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47720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10  Checkpoint status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4E7434-C15C-4BE5-96B7-097B6910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715000"/>
            <a:ext cx="4572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24C1E5-E427-4B5E-8945-A6E5ED13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59626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11  Validation gaps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5FC62E-EA64-4A6C-B128-FE8B6307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6905625"/>
            <a:ext cx="4572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DFFB9D-CA8A-4DCF-AA4A-D0EB6CED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71532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12  Roadmap and references</a:t>
            </a:r>
          </a:p>
        </p:txBody>
      </p:sp>
    </p:spTree>
    <p:extLst>
      <p:ext uri="{BB962C8B-B14F-4D97-AF65-F5344CB8AC3E}">
        <p14:creationId xmlns:p14="http://schemas.microsoft.com/office/powerpoint/2010/main" val="6140963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5AF697-3D90-4D92-AB8B-3A065DB4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81E56-5ACF-4E43-AEA8-746DA8EE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11555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18DED-902D-4E16-A39B-C3188AC4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MUKESH PATEL SCHOOL OF TECHNOLOGY MANAGEMENT &amp;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D5743-8F9D-4D2E-B358-94B89B37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SVKM’s NMIMS · DEPARTMENT OF INFORMATION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5D1C6-1A60-4E2F-9150-D6759BE2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9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A532B-FCF9-4358-B628-B2A71115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581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Why adversarial prompts require layered detection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E6399-C7FE-4DAB-B675-D81629DC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581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F"/>
          </a:solidFill>
          <a:ln xmlns:a="http://schemas.openxmlformats.org/drawingml/2006/main" w="0">
            <a:solidFill>
              <a:srgbClr val="D8DAD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5FFB8-2299-4EC6-BCA5-2258A570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F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F83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27574-8604-468E-96BB-D757B282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247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0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796AE-22C5-4DB6-AA91-56C156E8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00375"/>
            <a:ext cx="9677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Optimised suffixes can exploit model behaviour while looking unlike ordinary language.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9ECD4-EF5B-4ADE-BDCC-41DEFF06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67175"/>
            <a:ext cx="247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0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C7258-A2E4-4A5B-A790-11D123FC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67175"/>
            <a:ext cx="9677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Fluent jailbreaks and prompt injection weaken simple keyword or perplexity filters.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45C1EE-ED51-454D-993C-B7F2AC69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33975"/>
            <a:ext cx="247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0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C897E-4CC7-41AF-88F7-8BABC6B0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33975"/>
            <a:ext cx="9677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A single detector can be confidently wrong on an unfamiliar attack family.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C294C-BBF3-4480-9D3D-C591D066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247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0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092F2-E0A1-4FAF-9305-75CCE41B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200775"/>
            <a:ext cx="9677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DGAD asks whether disagreement can allocate stronger verification to contested prompts.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FF70F-42D7-489A-8A93-4935B7BB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143250"/>
            <a:ext cx="4095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A9F2F-557E-41D7-B173-3A9CFAE3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5718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35A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35A00"/>
                </a:solidFill>
                <a:latin typeface="Arial"/>
                <a:ea typeface="Arial"/>
                <a:cs typeface="Arial"/>
              </a:rPr>
              <a:t>EVIDENCE BOUNDARY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70EE6-8447-4F5F-8C0C-F116F8A1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143375"/>
            <a:ext cx="3333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Threats are established in prior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DGAD’s performance is still a research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No latency, cost, or accuracy headline is claimed here.</a:t>
            </a:r>
          </a:p>
        </p:txBody>
      </p:sp>
    </p:spTree>
    <p:extLst>
      <p:ext uri="{BB962C8B-B14F-4D97-AF65-F5344CB8AC3E}">
        <p14:creationId xmlns:p14="http://schemas.microsoft.com/office/powerpoint/2010/main" val="1984606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107F14-4DD0-491A-BC77-EF7B71B5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DB019-8FBD-4294-92C8-FEE11E67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11555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7F35A-C304-4DB0-B2C8-281C035F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MUKESH PATEL SCHOOL OF TECHNOLOGY MANAGEMENT &amp;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69924-0A1E-4333-8F46-EE2C5B11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SVKM’s NMIMS · DEPARTMENT OF INFORMATION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7D943-0A53-48E8-A5F3-315D1957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9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04307-BA32-4E9B-88F2-3C2C1420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581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Problem definition and verification budget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97273-F8A4-4C8A-B61E-96A3E52C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581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F"/>
          </a:solidFill>
          <a:ln xmlns:a="http://schemas.openxmlformats.org/drawingml/2006/main" w="0">
            <a:solidFill>
              <a:srgbClr val="D8DAD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BFF66-2516-4DFA-B198-080F461D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F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F83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27749-AF0F-46A0-BE0D-31DAE2A9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AD489-DE46-4C40-9472-8999C977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051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FAILURE MODES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B856E-42A5-4EBB-8956-F46985EC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9051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DESIRED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B5506-4BA3-4E5F-9F14-4CB9D5D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3238500" cy="3476625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F1B41-66D8-4567-A08A-7F8DB313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00500"/>
            <a:ext cx="257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 single English prompt before it reaches a target LLM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10A91-295A-40B9-AD52-ECC559C3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29000"/>
            <a:ext cx="49530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58D31-9A1B-4329-A723-FD5F9E9C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247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7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19FF7-2B72-46C4-9B38-3FFB5385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57625"/>
            <a:ext cx="40100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Low-fluency suffix attacks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0982B-299E-446A-A954-FEA40398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24375"/>
            <a:ext cx="247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7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01C77-F42A-42A6-AB16-F9BEFF30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24375"/>
            <a:ext cx="40100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Fluent semantic jailbreaks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D6519-5D64-45E0-85A4-F9D1A5C1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91125"/>
            <a:ext cx="247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7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12AE4-83CC-4709-879B-9FCCD407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91125"/>
            <a:ext cx="40100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Direct and indirect injection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D4E7B1-C66C-4D30-BB5B-9982F208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57875"/>
            <a:ext cx="247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7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A7B485-8FE7-433E-9247-47B11899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57875"/>
            <a:ext cx="40100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Benign trigger-word prompts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342067-D5B4-4A84-8B87-A4297515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429000"/>
            <a:ext cx="49530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70BC02-C9C1-4FD2-9E42-62C77702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3857625"/>
            <a:ext cx="4286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31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Use cheap heterogeneous signals for clear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Escalate uncertainty or degraded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Measure quality against compute and verification cost.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6B121E-EB86-4CF7-8216-9475AB12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620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64A000-7794-48C3-89A4-4554FFAD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581900"/>
            <a:ext cx="1209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784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Does calibrated disagreement routing improve the quality–escalation trade-off over single detectors and ordinary fusion?</a:t>
            </a:r>
          </a:p>
        </p:txBody>
      </p:sp>
    </p:spTree>
    <p:extLst>
      <p:ext uri="{BB962C8B-B14F-4D97-AF65-F5344CB8AC3E}">
        <p14:creationId xmlns:p14="http://schemas.microsoft.com/office/powerpoint/2010/main" val="10045703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1B2372-10D1-4C0E-9D1E-A7EB990A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3092E-E93A-41D5-986F-8973EE80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11555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4F7AB-3F49-4A4D-A6C5-5C657341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MUKESH PATEL SCHOOL OF TECHNOLOGY MANAGEMENT &amp;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1B3B1-0052-471E-BCE2-045189EE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SVKM’s NMIMS · DEPARTMENT OF INFORMATION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6E7DE-7CBF-4DC3-B4BC-4AEB848E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9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C0F6E-50AD-468F-8D17-B6316088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581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Literature foundations and the boundary of each 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250AB-8870-4FB9-BC32-F6C0E0BA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581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F"/>
          </a:solidFill>
          <a:ln xmlns:a="http://schemas.openxmlformats.org/drawingml/2006/main" w="0">
            <a:solidFill>
              <a:srgbClr val="D8DAD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57271-2C0B-4D3C-BA71-2C2DA7FD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F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F83"/>
                </a:solidFill>
                <a:latin typeface="Arial"/>
                <a:ea typeface="Arial"/>
                <a:cs typeface="Arial"/>
              </a:rPr>
              <a:t>PRIOR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78845-E52C-45BA-B3FB-4F5F72DF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3905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14E2F-8DA1-4F39-9DEA-3BB500D2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00375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0F32A-DBEB-4A87-ADCE-4FFD3859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57500"/>
            <a:ext cx="495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F0037-665C-4BF6-A1E8-F9C6A3C7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000375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 FINDING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3B7B6-0693-47F4-A36A-3BEC4EAD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857500"/>
            <a:ext cx="619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1B3FB-581D-494E-BC11-8304F4C4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000375"/>
            <a:ext cx="584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DGAD USE / LIMIT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776E8-1570-4A0A-94F5-B86590D4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48050"/>
            <a:ext cx="3905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solidFill>
              <a:srgbClr val="F4F5F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B9309-C1CB-4CC9-A58B-F1F4E1F3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600450"/>
            <a:ext cx="3600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Zou et al. (2023)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3E9279-CA7A-4E06-B5F2-232BA231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4480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solidFill>
              <a:srgbClr val="F4F5F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05842-9848-4BC4-9786-33C1A57A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600450"/>
            <a:ext cx="4648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GCG optimises transferable adversarial suffixes.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5E936-DE4D-41DE-8F28-549F4A00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448050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solidFill>
              <a:srgbClr val="F4F5F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B38494-4E7F-45DC-9443-1356D823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600450"/>
            <a:ext cx="588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Motivates surface-form testing; does not prove perplexity catches every variant.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5AE99F-FF24-4B49-8C78-1C361E2C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0100"/>
            <a:ext cx="3905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90F813-F612-45F7-8154-51BA444C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762500"/>
            <a:ext cx="3600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Perez &amp; Ribeiro (2022)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6EB17E-006D-42F5-913E-DD91DEDE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1010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3330CF-1D5D-47F3-91E6-6FFF385B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762500"/>
            <a:ext cx="4648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PromptInject studies goal hijacking and prompt leaking.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A56459-675A-40D9-8897-ADA818E9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610100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07FD6E-64C5-449F-9917-511A7867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762500"/>
            <a:ext cx="588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Direct manipulation evidence; not sufficient for indirect-injection claims.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76ED00-9ED7-463A-8424-377E83B4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72150"/>
            <a:ext cx="3905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solidFill>
              <a:srgbClr val="F4F5F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165286-F37E-4EEE-9B4C-515F3C71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924550"/>
            <a:ext cx="3600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Liu et al. (2023)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B0B3BD-93E2-4F13-AE5B-3B2BC1A9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7721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solidFill>
              <a:srgbClr val="F4F5F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408F34-4D7C-4061-B397-B7EA4C1D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924550"/>
            <a:ext cx="4648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AutoDAN generates readable, stealthier jailbreaks.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B77E72-E65D-4CD3-AC7F-226D1ADC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772150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solidFill>
              <a:srgbClr val="F4F5F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4E4000-5E79-4C9E-BDEC-98A928A6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5924550"/>
            <a:ext cx="588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Motivates a semantic channel; does not validate DGAD.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3C4606-BFA8-40CE-848E-95DCB306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934200"/>
            <a:ext cx="3905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700C6F-0972-4E52-97D9-7783E1C0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7086600"/>
            <a:ext cx="3600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Jain et al. (2023)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1EB244-C0C4-4E11-8122-E85D0796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93420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A283B1-46EA-460A-AB67-BBC91F38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7086600"/>
            <a:ext cx="4648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Baseline transformations and detection include perplexity filtering.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807C77-6938-4A58-B99A-9B5E2E08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934200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91D20A-C4D3-47D2-94CA-FCB21F53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7086600"/>
            <a:ext cx="588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Supplies a baseline; DGAD’s exact windowing needs its own evidence.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78E19A-2BCE-420E-AD65-BB403968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096250"/>
            <a:ext cx="3905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solidFill>
              <a:srgbClr val="F4F5F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BE6B0D-6F93-4818-80BB-7A5CF88B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8248650"/>
            <a:ext cx="3600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Li &amp; Liu (2024)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BA2371-2CC1-488C-B6C0-C73AA113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0962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solidFill>
              <a:srgbClr val="F4F5F7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8EB21B-AB99-4CD1-8267-7F58F87D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8248650"/>
            <a:ext cx="4648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InjecGuard introduces the NotInject benign benchmark.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254D93-BFE0-4DC5-AA35-D5502573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8096250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solidFill>
              <a:srgbClr val="F4F5F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9380E9-1B16-4D47-9723-26CF5BE9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8248650"/>
            <a:ext cx="588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Useful for over-defence evaluation; authors’ results are not DGAD results.</a:t>
            </a:r>
          </a:p>
        </p:txBody>
      </p:sp>
    </p:spTree>
    <p:extLst>
      <p:ext uri="{BB962C8B-B14F-4D97-AF65-F5344CB8AC3E}">
        <p14:creationId xmlns:p14="http://schemas.microsoft.com/office/powerpoint/2010/main" val="21187958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30182D-A555-4395-BCA3-644F92CB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A6BE7-71AE-46E5-95F3-A5D2E504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11555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5BC95-4A76-4D15-A223-8824CC27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MUKESH PATEL SCHOOL OF TECHNOLOGY MANAGEMENT &amp;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0699C-56A4-45AE-BE1B-CD52F441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SVKM’s NMIMS · DEPARTMENT OF INFORMATION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8E3CD-F6A4-4887-887B-66C6BBDD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9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7FD0C-B898-438A-8D06-05F33656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581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Research hypothesis and comparison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BAFDB-55EF-4284-A1F5-81C6BC7E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581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F"/>
          </a:solidFill>
          <a:ln xmlns:a="http://schemas.openxmlformats.org/drawingml/2006/main" w="0">
            <a:solidFill>
              <a:srgbClr val="D8DAD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A6BA7-A7A2-4ED4-A46A-A81C5E78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F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F83"/>
                </a:solidFill>
                <a:latin typeface="Arial"/>
                <a:ea typeface="Arial"/>
                <a:cs typeface="Arial"/>
              </a:rPr>
              <a:t>RESEARCH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AFD43-1E2A-48AA-BBF6-00504715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52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50584-4347-43E8-BAC8-978E81DB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33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F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83"/>
                </a:solidFill>
                <a:latin typeface="Arial"/>
                <a:ea typeface="Arial"/>
                <a:cs typeface="Arial"/>
              </a:rPr>
              <a:t>HYPOTHESIS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8B451-09D0-4E78-BB01-70C3D382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05250"/>
            <a:ext cx="6381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98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Calibrated disagreement between heterogeneous cheap detectors may identify prompts that deserve stronger verification.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37299-6814-427F-8E28-A3F4CF4E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638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The hypothesis succeeds only if the routed system improves a predeclared quality–escalation trade-off on unseen 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A4E74-B00E-4845-A666-F662FB7C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43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REQUIRED BASELINES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197BE-9B54-4115-9E6C-6BA07987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14750"/>
            <a:ext cx="247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6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DA4E9-56A4-4E23-ADF5-9CBDC7CA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14750"/>
            <a:ext cx="586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Channel A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209303-4AE2-4D15-91AF-5E6A1E3E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19600"/>
            <a:ext cx="247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6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842A9-F439-4E53-8E3E-68180BE7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419600"/>
            <a:ext cx="586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Channel B 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99311E-7D86-4B2A-BE71-3C6B037F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24450"/>
            <a:ext cx="247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6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EF8789-5265-46E0-AD31-4A6EE420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124450"/>
            <a:ext cx="586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Naive mean and max fusion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3131F8-F457-448E-A133-C56F97FB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829300"/>
            <a:ext cx="247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6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DEF605-8117-47B8-A189-ECBB8058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829300"/>
            <a:ext cx="586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Always-on verification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CA4E96-D7B8-4B4A-8505-3ED11AB3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34150"/>
            <a:ext cx="247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6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E21734-38DA-457E-9273-DCBE3EC0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534150"/>
            <a:ext cx="586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Gate without C/D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82E00F-B1E3-416E-8B14-B74BC4EC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6200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35A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35A00"/>
                </a:solidFill>
                <a:latin typeface="Arial"/>
                <a:ea typeface="Arial"/>
                <a:cs typeface="Arial"/>
              </a:rPr>
              <a:t>No “first framework” or “DGAD wins” claim is defensible before that comparison.</a:t>
            </a:r>
          </a:p>
        </p:txBody>
      </p:sp>
    </p:spTree>
    <p:extLst>
      <p:ext uri="{BB962C8B-B14F-4D97-AF65-F5344CB8AC3E}">
        <p14:creationId xmlns:p14="http://schemas.microsoft.com/office/powerpoint/2010/main" val="8100909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EBEB8C-A91D-4171-9C81-32212A18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8BE15-60DE-493C-A3EA-56191280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11555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F41CE-D0B9-4980-82D1-39FD0A78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MUKESH PATEL SCHOOL OF TECHNOLOGY MANAGEMENT &amp;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EA42C-0239-4A28-BA63-0669AA45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SVKM’s NMIMS · DEPARTMENT OF INFORMATION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07839-32C3-4931-97C4-05439C09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9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85319-98BA-47A7-BA98-3BB096A2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581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Objectives and project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37164-5AA2-4FAF-8859-D3AE54EC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581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F"/>
          </a:solidFill>
          <a:ln xmlns:a="http://schemas.openxmlformats.org/drawingml/2006/main" w="0">
            <a:solidFill>
              <a:srgbClr val="D8DAD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F2A1A-FE4A-463D-BF0D-1760F9C5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F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F83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A2078-8252-44BB-9EDD-0ED19807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F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83"/>
                </a:solidFill>
                <a:latin typeface="Arial"/>
                <a:ea typeface="Arial"/>
                <a:cs typeface="Arial"/>
              </a:rPr>
              <a:t>IN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745F6-DF04-4B8E-BE89-7CB939B3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05125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OUT OF SCOPE AT THIS CHECKPOINT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E7279-443D-48F8-84B9-F61838B9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72390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8192A-8F02-49D6-8EE7-84DAEE92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57625"/>
            <a:ext cx="247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6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43D3D-B20B-47A6-9D2F-7F79EC35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857625"/>
            <a:ext cx="6153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Single-turn English prompts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F83C8-63DD-49FF-A174-A2ED005D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562475"/>
            <a:ext cx="247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6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9ACBA-E6F4-43A3-9089-92F226DE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562475"/>
            <a:ext cx="6153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Statistical and semantic cheap channels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C482D-370E-4731-81BA-CF6E67B5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67325"/>
            <a:ext cx="247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6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EC4F7-00B9-43AD-A02C-5E68A44E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267325"/>
            <a:ext cx="6153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Calibrated disagreement 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36348-1F0B-41AB-82A9-881B0A9B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972175"/>
            <a:ext cx="247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6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0F09EF-A1BC-41E9-9CD4-EE8DDA62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972175"/>
            <a:ext cx="6153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Selective behavioural and judge escalation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04CE5C-3323-4DEF-9240-8CC5EABE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677025"/>
            <a:ext cx="247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6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842205-C618-4098-AA70-841C4558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6677025"/>
            <a:ext cx="6153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Repository-backed comparison and 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1A44A0-95E5-4075-B49F-5198B1A8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714375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6CE713-4C86-45B6-9A3D-D5F555B1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857625"/>
            <a:ext cx="247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6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BB4AB1-59DA-484C-90F7-6BE0917A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857625"/>
            <a:ext cx="6057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Multimodal prompts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EACE59-E2C9-4704-8613-7C560420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562475"/>
            <a:ext cx="247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6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76DF9B-9B26-4960-A530-DA4665C9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562475"/>
            <a:ext cx="6057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Multi-turn session attacks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AD20B4-3E1E-482A-AC53-5F3F5B06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267325"/>
            <a:ext cx="247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6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CA3E00-DA17-4FBB-A7E0-6C09DADA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5267325"/>
            <a:ext cx="6057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Model-weight and training-data attacks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6A25AD-094C-46B8-806B-A080EE6E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972175"/>
            <a:ext cx="247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6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CDDE72-E6A8-4B48-B82A-8B4F0862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5972175"/>
            <a:ext cx="6057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Automatic online retraining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A58B29-2591-4516-AAE0-26F21C12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677025"/>
            <a:ext cx="247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6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D91B85-2DFC-4E81-A979-DDFCC74C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6677025"/>
            <a:ext cx="6057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Production latency or cost guarantees</a:t>
            </a:r>
          </a:p>
        </p:txBody>
      </p:sp>
    </p:spTree>
    <p:extLst>
      <p:ext uri="{BB962C8B-B14F-4D97-AF65-F5344CB8AC3E}">
        <p14:creationId xmlns:p14="http://schemas.microsoft.com/office/powerpoint/2010/main" val="12576647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475089-4ED0-4691-838C-0D4345A1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12800-4129-439A-9F07-AB7D42D7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11555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EAD11-DAA3-48A9-B994-55E942E2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MUKESH PATEL SCHOOL OF TECHNOLOGY MANAGEMENT &amp;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36160-16C2-4D97-A139-C6A48671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SVKM’s NMIMS · DEPARTMENT OF INFORMATION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E3E46-436C-4A7C-8ACC-157C9D88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9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109C5-BE48-4F46-8056-91B7E63E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581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Implementation present in the 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B29B7-E813-419D-809F-42B3D3D1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581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F"/>
          </a:solidFill>
          <a:ln xmlns:a="http://schemas.openxmlformats.org/drawingml/2006/main" w="0">
            <a:solidFill>
              <a:srgbClr val="D8DAD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F98C8-BDF7-406B-A161-F517B926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F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F83"/>
                </a:solidFill>
                <a:latin typeface="Arial"/>
                <a:ea typeface="Arial"/>
                <a:cs typeface="Arial"/>
              </a:rPr>
              <a:t>SOURCE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C832F-D1BE-4C1A-BF35-8A2CC399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704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6E0FD-E8D1-4F1E-B257-F5A973E6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432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DETECTION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FA86D-B2E8-4081-B33B-D505A5DF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71875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Normalisation; statistical, semantic and offset channels; calibration; disagreement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D4FC4-A303-42FE-8E6E-51956011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05125"/>
            <a:ext cx="704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B17BE-6D9F-4BAC-B706-864AFB01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432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ESCALATION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D9E62-5D96-4C95-91DF-EC7C35DF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71875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Behavioural probe, LLM judge, canary support and final resolver paths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5B5E6-90F8-45AB-8506-F84E08F2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704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A74EB-D0EF-4C33-8F23-76904A77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482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8E0F0D-7FF7-4D93-800E-6D971207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76875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FastAPI detect/proxy/admin routes; SQLAlchemy audit storage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5952B-A5BF-4962-BB09-B09D5DC3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10125"/>
            <a:ext cx="704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11113-71BF-4CC1-9DE8-1481F81C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0482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38AF32-E157-439B-ACC1-8BA11D44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76875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React dashboard source with threshold, scatter, funnel and detail views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0B4807-52CA-41FC-AA69-9B1C5A73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715125"/>
            <a:ext cx="704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6D57F-4B4E-4925-9250-9C7BBA73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9532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ENGINEERING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77CDA7-DFBF-4C4B-A030-D581DDE4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7381875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Unit, integration and adversarial test suites; Docker and runbook assets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CFC76D-4327-40C4-B97B-0BE69E96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715125"/>
            <a:ext cx="704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5DD671-7F5A-434A-B41F-B9BC55EC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9532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35A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35A00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56D132-27E3-401F-8132-199DDC18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7381875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Source presence verified by inspection. Clean runtime and end-to-end behaviour require validation.</a:t>
            </a:r>
          </a:p>
        </p:txBody>
      </p:sp>
    </p:spTree>
    <p:extLst>
      <p:ext uri="{BB962C8B-B14F-4D97-AF65-F5344CB8AC3E}">
        <p14:creationId xmlns:p14="http://schemas.microsoft.com/office/powerpoint/2010/main" val="14267746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2F6D9-75CA-4FFB-ABF0-8AA09BAD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66A10-D128-4A3F-BFEF-80AF590B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11555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73377-DC7E-4D76-80D5-92E0FE2C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MUKESH PATEL SCHOOL OF TECHNOLOGY MANAGEMENT &amp;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D2A93-0687-496F-AC6F-A6CFEBA9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SVKM’s NMIMS · DEPARTMENT OF INFORMATION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9B5CC-DD7E-4DAB-A914-EEF0692B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9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00E5B-A6F2-4CB0-9C29-A4C3D6D8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581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Committed ablation summary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AEA6B-8230-4E92-8F86-D4F07A35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581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F"/>
          </a:solidFill>
          <a:ln xmlns:a="http://schemas.openxmlformats.org/drawingml/2006/main" w="0">
            <a:solidFill>
              <a:srgbClr val="D8DAD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C9ACE-173F-4687-85BC-5747AC51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F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F83"/>
                </a:solidFill>
                <a:latin typeface="Arial"/>
                <a:ea typeface="Arial"/>
                <a:cs typeface="Arial"/>
              </a:rPr>
              <a:t>EVIDENCE SNAPSHOT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1619250" y="3143250"/>
          <a:ext xmlns:a="http://schemas.openxmlformats.org/drawingml/2006/main" cx="933450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c1f9b9ae5d499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87090-EFFE-4DB6-911F-0D6559C5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143250"/>
            <a:ext cx="485775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412C7-0448-4FC6-8C70-C4E8C6C0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524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35A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35A00"/>
                </a:solidFill>
                <a:latin typeface="Arial"/>
                <a:ea typeface="Arial"/>
                <a:cs typeface="Arial"/>
              </a:rPr>
              <a:t>READ THIS CHART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5C3C0-EDDB-4C12-BE60-025490CD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0957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Source: committed results/ablation.csv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n = 7,969 in the summary file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C/D were not executed for the cached gate value. Escalated cases were not measured end to 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Other score files have conflicting row counts and provenance.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9E188-62B1-4596-8A82-987D2A59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048625"/>
            <a:ext cx="1495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The committed summary does not establish a DGAD improvement over Channel B.</a:t>
            </a:r>
          </a:p>
        </p:txBody>
      </p:sp>
    </p:spTree>
    <p:extLst>
      <p:ext uri="{BB962C8B-B14F-4D97-AF65-F5344CB8AC3E}">
        <p14:creationId xmlns:p14="http://schemas.microsoft.com/office/powerpoint/2010/main" val="17945771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E31103-D4D0-4AD0-ACB8-AA31E306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0989F-69D3-42F9-9D37-713D240E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11555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B1441-AAAD-4A0A-89DC-A0D59B54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MUKESH PATEL SCHOOL OF TECHNOLOGY MANAGEMENT &amp;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1CC33-471C-481A-8EFD-A3D397FA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SVKM’s NMIMS · DEPARTMENT OF INFORMATION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2B635-90EA-43FB-B931-DFECEE63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9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92BFA-2C5A-446E-9DB8-B96AB152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581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Component architecture and core contracts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5B9DB-1949-43BC-8751-3A7BE82C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581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F"/>
          </a:solidFill>
          <a:ln xmlns:a="http://schemas.openxmlformats.org/drawingml/2006/main" w="0">
            <a:solidFill>
              <a:srgbClr val="D8DAD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52536-5B78-454A-9ED8-BC88A9EE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F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F83"/>
                </a:solidFill>
                <a:latin typeface="Arial"/>
                <a:ea typeface="Arial"/>
                <a:cs typeface="Arial"/>
              </a:rPr>
              <a:t>DESIGN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B4C19-AD1E-42D2-92CE-10FB2127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REQUEST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67EA2-5AA7-41F2-8358-8306B7F4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CLASS CONTRACTS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AF309-B29A-4CF0-8D66-B93D01D9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2286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0615A-BBBC-4E14-944F-DFFF6FEB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242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Client / proxy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CA0C5-A43E-4466-A64F-88BD5A92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24250"/>
            <a:ext cx="2286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24F21-8C8D-498F-B022-EED3B2BC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242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Normaliser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7ACB0-732A-4581-87DF-FCAD9007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2286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121FDD-D414-48F1-B31B-AE0C6447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1530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 · Statistical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C8FF0-D10F-468A-A1A4-5FE4A6C1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53000"/>
            <a:ext cx="2286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1E530-F626-4B2C-B51D-8A87E5F5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1530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 · Semantic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C656FC-EAEA-4CCA-A80A-7C346E4C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334125"/>
            <a:ext cx="2286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C714D1-2436-4F83-B4F9-0F1CF8D8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534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03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Per-channel calibrators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B59C41-5195-457D-AC84-EDF15D34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620000"/>
            <a:ext cx="2286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4B8A44-4F8C-4C90-B06D-C2F7E793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8200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Disagreement 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B69A54-56E1-403F-BC52-5DACFFFD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09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6AC162-36C9-48BF-849E-18CA9457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86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↙        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ACBA6E-FBEF-48AF-96BA-B343BB5E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150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↘        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35F980-3914-4068-8FD4-BFAFD734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0866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EF1D79-3144-4912-9E9C-DEEB0EDB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8582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7A4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7A48"/>
                </a:solidFill>
                <a:latin typeface="Arial"/>
                <a:ea typeface="Arial"/>
                <a:cs typeface="Arial"/>
              </a:rPr>
              <a:t>PASS / BLOCK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6DA1B9-05AC-45A2-864B-FCB304F4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88582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35A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35A00"/>
                </a:solidFill>
                <a:latin typeface="Arial"/>
                <a:ea typeface="Arial"/>
                <a:cs typeface="Arial"/>
              </a:rPr>
              <a:t>ESCALATE → C probe + D judge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02AC0A-2455-466E-869B-049342EC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0"/>
            <a:ext cx="619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9AD088-5B9D-41CC-8D58-524D8E92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385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Channel.score(text)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0163E2-1F99-4945-965D-A4E642C8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2907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58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ChannelResult(raw_score, calibrated_score?, latency_ms, metadata)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0CE25A-C54E-4BD7-AB19-DC7AFAC7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10125"/>
            <a:ext cx="619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9C108A-AB7F-488B-B4EB-284A3EA7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019675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DisagreementGate.decide(scores)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4DA915-A544-405A-ACE0-569787D2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10200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58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GateDecision(PASS | BLOCK | ESCALATE, scores, disagreement, rationale)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E3C15D-568E-4FEE-ABCC-28490CF9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619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8EB463-8625-4361-9F0A-4C69CA4C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DetectionPipeline.detect(prompt)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CAB2D8-068F-4624-8D0E-63E86468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7913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DetectResponse + AuditLogRecord + health metadata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D4E551-C201-447F-BFE8-68315943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572375"/>
            <a:ext cx="619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8B6E61-BD86-4950-8C47-CA832682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781925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35A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35A00"/>
                </a:solidFill>
                <a:latin typeface="Arial"/>
                <a:ea typeface="Arial"/>
                <a:cs typeface="Arial"/>
              </a:rPr>
              <a:t>Current gap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675C5B-A4BC-444B-86ED-ABD57E34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172450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Schema does not enforce every proposed health/version field.</a:t>
            </a:r>
          </a:p>
        </p:txBody>
      </p:sp>
    </p:spTree>
    <p:extLst>
      <p:ext uri="{BB962C8B-B14F-4D97-AF65-F5344CB8AC3E}">
        <p14:creationId xmlns:p14="http://schemas.microsoft.com/office/powerpoint/2010/main" val="13318064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38349F-4BAB-456A-A923-94338684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70E72-C101-47C7-814B-4890E1A3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11555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8B9C1-85C1-423D-A8C8-B5ED4382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MUKESH PATEL SCHOOL OF TECHNOLOGY MANAGEMENT &amp;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6A5CB-5560-4C36-8919-7E6884F0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SVKM’s NMIMS · DEPARTMENT OF INFORMATION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7ED10-9DBB-429F-8080-0CF95A1E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9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A5A7A-9391-424C-BBB6-9A6E6E76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581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Behavioural sequence: target design and current implementation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F84AA-A8F0-467E-8EE9-741E2EAA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581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F"/>
          </a:solidFill>
          <a:ln xmlns:a="http://schemas.openxmlformats.org/drawingml/2006/main" w="0">
            <a:solidFill>
              <a:srgbClr val="D8DAD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852A2-9AD4-431C-B1F1-7D96F7F5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F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F83"/>
                </a:solidFill>
                <a:latin typeface="Arial"/>
                <a:ea typeface="Arial"/>
                <a:cs typeface="Arial"/>
              </a:rPr>
              <a:t>REQUEST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25EE9-B108-4A2B-A0D0-3B837B55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8859E-4C41-4952-9824-F93D737A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623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52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1  Validate and normalise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8473C-BA5F-4C46-AC17-738C8C3E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433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132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4D1C3-C792-48EA-ABAD-9245F574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86125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D972C-C1CB-4A0A-B977-083341CC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623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5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2  Score cheap channels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29DCC-930E-41F3-B8EE-9A8FC7E4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5433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132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4EEB1-8C6B-41F2-A040-091DB548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86125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44C34-2F4B-4509-B093-ACBEC8F7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623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3  Apply calibrators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7AB6D-FF7B-4D56-9652-04A70E3C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433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132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E9005-8098-4A26-B49A-0A86D73C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86125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0CC09-6EEE-432B-8ACB-BF68AFE8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5623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1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4  Route through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635B8-CB08-4FE7-9445-27FB066C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35433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132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A62D11-4CDD-4975-B5D6-E015E283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286125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47F1CC-59C4-4AFB-A353-1880EB36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5623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92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5  Escalate contested cases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624C77-9F7C-44C4-BEA9-1768B1DA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35433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132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952F48-A0CF-4DFF-BB36-36FE8800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3286125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575146-0347-4D9B-B130-5101F85E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356235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583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6  Resolve and audit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09BD44-3D13-4E73-B2D3-D604075E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7239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C90CEC-C424-47C8-B7A5-A8FAA88C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F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83"/>
                </a:solidFill>
                <a:latin typeface="Arial"/>
                <a:ea typeface="Arial"/>
                <a:cs typeface="Arial"/>
              </a:rPr>
              <a:t>PROPOSED CHECKPOINT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DE2B93-22DD-4EA9-9B73-11846BE4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96000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 and B score in parallel. Invalid or uncalibrated required evidence escalates. C and D run only after escalation. The resolver handles indeterminate or degraded outcomes explicitly.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4F283E-1B0B-4045-BE18-02D7B612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0"/>
            <a:ext cx="7239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D0B579-E017-4D75-A57C-4D476F9A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245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35A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35A00"/>
                </a:solidFill>
                <a:latin typeface="Arial"/>
                <a:ea typeface="Arial"/>
                <a:cs typeface="Arial"/>
              </a:rPr>
              <a:t>CURRENT SOURCE BEHAVIOUR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C001CC-45B6-4229-9C4E-E1FD3AD1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96000"/>
            <a:ext cx="638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A, B and E execute serially. Missing required A/B evidence escalates. Degraded escalation blocks. Resolver weights and thresholds live in typed settings.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332152-FF55-4B96-8244-33E999BC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667750"/>
            <a:ext cx="1543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Fail-safe routing is implemented; parallel cheap-channel scoring and production latency work remain.</a:t>
            </a:r>
          </a:p>
        </p:txBody>
      </p:sp>
    </p:spTree>
    <p:extLst>
      <p:ext uri="{BB962C8B-B14F-4D97-AF65-F5344CB8AC3E}">
        <p14:creationId xmlns:p14="http://schemas.microsoft.com/office/powerpoint/2010/main" val="11314088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9C5626-669F-4F7D-B6D2-71E7F459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3B9CD-D9A0-40B1-B90B-4FDEFCBF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11555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F63F3-3E02-4827-8F74-45A4CEFA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MUKESH PATEL SCHOOL OF TECHNOLOGY MANAGEMENT &amp;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B2C6E-5837-4959-912E-0B98D1DC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SVKM’s NMIMS · DEPARTMENT OF INFORMATION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EEC87-A443-4A9D-B4B3-A3022441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9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D4C74-64A9-44A3-B1DA-8ABE4B33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581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Implementation evidence at 50%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33A6B-25CD-42A5-82BB-5D731771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581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F"/>
          </a:solidFill>
          <a:ln xmlns:a="http://schemas.openxmlformats.org/drawingml/2006/main" w="0">
            <a:solidFill>
              <a:srgbClr val="D8DAD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9B81A-EE75-47E8-855E-BA728B4F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F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F83"/>
                </a:solidFill>
                <a:latin typeface="Arial"/>
                <a:ea typeface="Arial"/>
                <a:cs typeface="Arial"/>
              </a:rPr>
              <a:t>IMPLEMENTATION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53281-4BD2-401E-BE16-CD35E48C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4857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DB597-613E-4092-AFC3-324CF63E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861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F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83"/>
                </a:solidFill>
                <a:latin typeface="Arial"/>
                <a:ea typeface="Arial"/>
                <a:cs typeface="Arial"/>
              </a:rPr>
              <a:t>DATASET 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FA6EC-A42F-44D1-AB0E-E3AA0D8B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71900"/>
            <a:ext cx="428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8361B-8CA6-4B56-BB07-A395E79D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672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93,211 raw → 53,428 deduplicated; zero normalised cross-split duplicates.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7EBD6-556B-441C-BCA1-69A3E12D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857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57BB9-F93C-4574-B681-A9748F74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861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35A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35A00"/>
                </a:solidFill>
                <a:latin typeface="Arial"/>
                <a:ea typeface="Arial"/>
                <a:cs typeface="Arial"/>
              </a:rPr>
              <a:t>TEST RUN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827CE-1D87-4198-A293-17D31E1A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71900"/>
            <a:ext cx="428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100 tests passed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E5343-117D-4E45-9AC1-F92BC94A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672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pytest: 100 passed · mypy: 31 files clean · dashboard production build passed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03596-AAF2-4B10-860E-4467C842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048000"/>
            <a:ext cx="4857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C469E-4E4A-4DBF-9E25-4128EC04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2861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35A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35A00"/>
                </a:solidFill>
                <a:latin typeface="Arial"/>
                <a:ea typeface="Arial"/>
                <a:cs typeface="Arial"/>
              </a:rPr>
              <a:t>PROTOTYPE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C0FB8-F1D7-469E-B665-CDD49003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771900"/>
            <a:ext cx="428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Training complete · MiniLM test AUC 0.8604 [0.8529, 0.8685] · n=8,007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F12FB7-440D-433E-9468-433C65A5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6672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Runtime evidence must be tied to a commit and clean environment.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B825F-939E-4185-93D1-C7A8E29C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00750"/>
            <a:ext cx="4857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F25B2D-F93E-45D8-83F8-3F371234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2388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35A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35A00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59A9CB-4F07-4241-8EEE-89034DB0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724650"/>
            <a:ext cx="428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Live A/B/E path and local C/D escalation verified; cheap channels remain serial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85F880-618A-4CDB-8569-4ED73275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76200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Parallel scoring remains a target unless source changes.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CDFEC3-957C-4F51-ACEC-1FD346A1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000750"/>
            <a:ext cx="4857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C69529-0AF6-4C44-97ED-8B93EA38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2388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35A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35A00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58199F-9128-48B1-B6FF-6642C670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724650"/>
            <a:ext cx="428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Production build and real BLOCK flow verified in browser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5C8D00-4497-4D52-AFC9-AF63547A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6200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Source presence does not prove deployed behaviour.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CEDE61-4B40-46D3-B935-81D29FDA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000750"/>
            <a:ext cx="4857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30B8B0-1114-4C8C-B874-C2548225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2388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35A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35A00"/>
                </a:solidFill>
                <a:latin typeface="Arial"/>
                <a:ea typeface="Arial"/>
                <a:cs typeface="Arial"/>
              </a:rPr>
              <a:t>BENCHMARK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BDCAA8-1374-498E-AAA2-7E4C1C3C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724650"/>
            <a:ext cx="428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9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Checkpoint A/B metrics reproduced; NotInject FPR 39.47%; full C/D benchmark pending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7B928A-5E6E-49E3-AC66-4EB5764B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6200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Committed files require provenance repair.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EDBBF4-1AD8-4EED-8ABD-6B75EA4A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572500"/>
            <a:ext cx="1543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Status file: checkpoint_status.json · Updated 2026-09-07</a:t>
            </a:r>
          </a:p>
        </p:txBody>
      </p:sp>
    </p:spTree>
    <p:extLst>
      <p:ext uri="{BB962C8B-B14F-4D97-AF65-F5344CB8AC3E}">
        <p14:creationId xmlns:p14="http://schemas.microsoft.com/office/powerpoint/2010/main" val="20622138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77286A-FAC2-40AE-925F-E412A3F2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D3E6C-319C-42F6-9C34-19C0FFDC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11555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19269-42FA-497B-932B-6D19D50F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MUKESH PATEL SCHOOL OF TECHNOLOGY MANAGEMENT &amp;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4EC89-AFD4-4AB0-95EB-A5DB60B1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SVKM’s NMIMS · DEPARTMENT OF INFORMATION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A7FE6-543F-4C68-880B-5B479812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9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1A9A3-FC42-443A-B0AC-82B790BE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581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Validated research claims remain pending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AC4CC-5692-4684-84FD-FD204F12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581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F"/>
          </a:solidFill>
          <a:ln xmlns:a="http://schemas.openxmlformats.org/drawingml/2006/main" w="0">
            <a:solidFill>
              <a:srgbClr val="D8DAD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6202F-D6ED-4449-A76C-F4F148FA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F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F83"/>
                </a:solidFill>
                <a:latin typeface="Arial"/>
                <a:ea typeface="Arial"/>
                <a:cs typeface="Arial"/>
              </a:rPr>
              <a:t>EVALUATION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0BBFF-0AF0-4DF6-8AD0-620FE34E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9BE21-ACFF-4215-84B6-D6735C25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9085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F4CE4-C429-40CB-9330-05DBC729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DD6C6-FC83-4B57-AF18-AC7234FB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908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F8302-7A98-4308-9E98-2B30CF64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7BA95-E5EE-4B86-B6BD-EF30519B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90850"/>
            <a:ext cx="737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REQUIRED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466F8-9478-45E5-899F-A2E6F2EC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3714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solidFill>
              <a:srgbClr val="F4F5F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B67170-664C-4A9A-A2A1-9A20BD03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480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AF659A-A865-4B68-8A6B-225ADDE2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3333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solidFill>
              <a:srgbClr val="F4F5F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853DEE-94B9-4BB5-9F17-9887A7A1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48075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67A4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7A48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0C856D-8EE8-4603-856B-5526783A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771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solidFill>
              <a:srgbClr val="F4F5F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12FDD-7641-4E2F-BB0E-6C0D7F9E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48075"/>
            <a:ext cx="737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Full-suite count, clean log, commit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8AB7E0-EC1C-4841-8985-732EBD04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3714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5E4790-5E8E-461F-84E0-4A32FE9A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624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RANKING QUALITY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5AB03-F499-4381-B229-8E2E9287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43400"/>
            <a:ext cx="3333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9911FE-2B6B-4B61-98C3-762D1397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562475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5A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35A00"/>
                </a:solidFill>
                <a:latin typeface="Arial"/>
                <a:ea typeface="Arial"/>
                <a:cs typeface="Arial"/>
              </a:rPr>
              <a:t>A/B test reproduced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FD0D12-2AA5-4F4D-836D-A4BED19B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771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613734-2866-409E-8B8D-F6014B4A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62475"/>
            <a:ext cx="737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B AUC 0.8604 [0.8529, 0.8685]; full DGAD still pending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5D78B6-E8B9-4158-AD51-0FAE0A1D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3714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solidFill>
              <a:srgbClr val="F4F5F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0AAE57-0B41-4FD4-956B-0F0E4EB3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768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OVER-DEFENCE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33F3BE-22C6-41CA-BD34-B170BAC9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57800"/>
            <a:ext cx="3333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solidFill>
              <a:srgbClr val="F4F5F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568EBD-055A-4BAE-A792-D70F9D86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476875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5A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35A00"/>
                </a:solidFill>
                <a:latin typeface="Arial"/>
                <a:ea typeface="Arial"/>
                <a:cs typeface="Arial"/>
              </a:rPr>
              <a:t>Weakness measured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6B3BE6-379A-4EF4-A46B-DA1E7884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57800"/>
            <a:ext cx="771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solidFill>
              <a:srgbClr val="F4F5F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AEA1BD-CAA7-4F70-9E95-13BAECBD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76875"/>
            <a:ext cx="737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B NotInject FPR 39.47% on 38 test controls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8E6915-DCD8-4656-A7F4-8AE23ED7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72200"/>
            <a:ext cx="3714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9163F7-40E1-453D-A541-E043C3BA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912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ESCALATION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D39218-2991-4C7F-8CED-E958AAF6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172200"/>
            <a:ext cx="3333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FE272E-F19E-44AD-96E5-89C6497B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391275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5A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35A00"/>
                </a:solidFill>
                <a:latin typeface="Arial"/>
                <a:ea typeface="Arial"/>
                <a:cs typeface="Arial"/>
              </a:rPr>
              <a:t>Gate tuned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56DBCD-7BFA-484C-AEC2-A9C94ABD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72200"/>
            <a:ext cx="771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F1CD36-983A-453D-9D9E-29A68124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391275"/>
            <a:ext cx="737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t_low .200 · t_high .930 · t_d .453; C/D benchmark pending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C92E26-E8CF-43B1-BFCB-3B03CBB5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86600"/>
            <a:ext cx="3714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solidFill>
              <a:srgbClr val="F4F5F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6069A1-853F-4ABF-87CC-BA49BD95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3056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LATENCY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8A4B2E-2437-4DB6-B5F5-23A821BF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086600"/>
            <a:ext cx="3333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solidFill>
              <a:srgbClr val="F4F5F7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94C039-7765-47E5-B092-83A13D2D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7305675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5A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35A00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C2C7B2-5790-48C9-B37C-DCB13B0C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086600"/>
            <a:ext cx="771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solidFill>
              <a:srgbClr val="F4F5F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457163-ED30-4A07-B5C0-131750BE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7305675"/>
            <a:ext cx="737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Named hardware, warm-up, cache state, p50/p95/p99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CE1041-9894-485E-B802-E38DEDC6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001000"/>
            <a:ext cx="3714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36B8E8-5AC5-4DFF-848C-538A7F30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82200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C/D EFFECT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C85837-7EE1-4227-9EB5-F43140B8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001000"/>
            <a:ext cx="3333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9B7214-36AC-4243-A268-4A4EA225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8220075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5A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35A00"/>
                </a:solidFill>
                <a:latin typeface="Arial"/>
                <a:ea typeface="Arial"/>
                <a:cs typeface="Arial"/>
              </a:rPr>
              <a:t>Not measured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DFEECA-AF60-487C-96A8-5F9F06FB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001000"/>
            <a:ext cx="771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74648F-5620-4C03-AC79-35A9B6E5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8220075"/>
            <a:ext cx="737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Real escalated outputs and cost accounting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C5B41D-8F75-4CAF-905E-0372A492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144000"/>
            <a:ext cx="1571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A cached summary can guide debugging; it cannot support the final research conclusion.</a:t>
            </a:r>
          </a:p>
        </p:txBody>
      </p:sp>
    </p:spTree>
    <p:extLst>
      <p:ext uri="{BB962C8B-B14F-4D97-AF65-F5344CB8AC3E}">
        <p14:creationId xmlns:p14="http://schemas.microsoft.com/office/powerpoint/2010/main" val="2029292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2516D9-829B-455B-A1DE-75C38D4C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365FA-5266-4E75-9F1C-B44400AB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11555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F9D2C-AAEA-49A0-91F7-A42676D2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MUKESH PATEL SCHOOL OF TECHNOLOGY MANAGEMENT &amp;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2B97F-D6D9-4E70-A591-FE63346D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SVKM’s NMIMS · DEPARTMENT OF INFORMATION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D6388-D12B-49E5-86BF-334F3F6B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9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63550-CE3D-46EE-9907-7ECC0356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581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Roadmap and primary 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39DDE-7AD8-492B-B156-0709F12C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581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ADF"/>
          </a:solidFill>
          <a:ln xmlns:a="http://schemas.openxmlformats.org/drawingml/2006/main" w="0">
            <a:solidFill>
              <a:srgbClr val="D8DAD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FD430-A2CC-4BD1-B1CC-72CFE496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F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F83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46275-B54B-4680-908F-0253ED2E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F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83"/>
                </a:solidFill>
                <a:latin typeface="Arial"/>
                <a:ea typeface="Arial"/>
                <a:cs typeface="Arial"/>
              </a:rPr>
              <a:t>TO 100% COMPLETION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87732-D357-4907-ABAA-8931C9A3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71C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71C1C"/>
                </a:solidFill>
                <a:latin typeface="Arial"/>
                <a:ea typeface="Arial"/>
                <a:cs typeface="Arial"/>
              </a:rPr>
              <a:t>PRIMARY 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35FE0-17EE-4944-9DA2-7F57BF07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695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E8C0F-2951-415E-B806-C9751F92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814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1  Lock commit, environment and dataset manifest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7D618-6214-412E-AA8C-1734E103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57675"/>
            <a:ext cx="695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9C8F5-2B3D-4E47-859E-7B4B6D80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577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2  Rebuild one consistent score cache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07757-F76E-46B9-87B0-44362142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33975"/>
            <a:ext cx="695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F2FEC-464B-4F36-AFEE-FDB48375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340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3  Validate calibrators and freeze thresholds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A6BFC8-0225-43F3-AE9B-FF95F03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10275"/>
            <a:ext cx="695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187793-205D-42AC-8EAF-3E927879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103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4  Execute C/D on every escalated holdout case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253BE5-0FC1-422B-945B-FA18DD66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886575"/>
            <a:ext cx="695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049DB3-A54E-4446-AE3F-AD279B87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0866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5  Report quality, over-defence, latency and cost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F2C13-32FD-42B8-BFBB-CCCB1CBC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762875"/>
            <a:ext cx="695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8DAD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2D7E33-8F44-47FD-AA56-AC61FBE5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9629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6  Reconcile diagrams, code and final claims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89FEBA-5409-4754-97CF-40940D07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[1] A. Zou et al., “Universal and Transferable Adversarial Attacks on Aligned Language Models,” 2023.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D4DBEB-CC11-4130-8C2C-0F110B76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[2] F. Perez and I. Ribeiro, “Ignore Previous Prompt,” 2022.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F45F9C-AE00-413C-92EA-8C32D6F0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578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[3] X. Liu et al., “AutoDAN,” 2023.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D8CEF0-532F-45AB-A14F-612D7DAE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1722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[4] N. Jain et al., “Baseline Defenses for Adversarial Attacks Against Aligned Language Models,” 2023.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16AE48-976A-4EF8-8D64-8F159473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0866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[5] H. Li and X. Liu, “InjecGuard,” 2024.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3F2FB4-A4AB-4CCC-BEDF-CE1D51A9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[6] P. Chao et al., “Jailbreaking Black Box LLMs in Twenty Queries,” 2023.</a:t>
            </a:r>
          </a:p>
        </p:txBody>
      </p:sp>
    </p:spTree>
    <p:extLst>
      <p:ext uri="{BB962C8B-B14F-4D97-AF65-F5344CB8AC3E}">
        <p14:creationId xmlns:p14="http://schemas.microsoft.com/office/powerpoint/2010/main" val="20568356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F015E-B454-4A8E-A929-7ED28A10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07FF0-CF2B-42FD-B557-4EEE72D9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96500"/>
            <a:ext cx="1828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  <a:ln xmlns:a="http://schemas.openxmlformats.org/drawingml/2006/main" w="0">
            <a:solidFill>
              <a:srgbClr val="B7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83197-6361-4EF0-8C1D-FB37C274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76500"/>
            <a:ext cx="1485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F692D-8CDF-42BF-9E7F-C3F08323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1485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Questions and feedback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5C9EB-B4A3-473C-A883-A1ACE3E0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15000"/>
            <a:ext cx="1485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8F83"/>
                </a:solidFill>
                <a:latin typeface="Arial"/>
                <a:ea typeface="Arial"/>
                <a:cs typeface="Arial"/>
              </a:rPr>
              <a:t>DGAD · Adversarial Attack Detection for Large Language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93D93-F1EE-4D0C-861F-C1408870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381750"/>
            <a:ext cx="1485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656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656F"/>
                </a:solidFill>
                <a:latin typeface="Arial"/>
                <a:ea typeface="Arial"/>
                <a:cs typeface="Arial"/>
              </a:rPr>
              <a:t>50% checkpoint · Design and source implementation under verification</a:t>
            </a:r>
          </a:p>
        </p:txBody>
      </p:sp>
    </p:spTree>
    <p:extLst>
      <p:ext uri="{BB962C8B-B14F-4D97-AF65-F5344CB8AC3E}">
        <p14:creationId xmlns:p14="http://schemas.microsoft.com/office/powerpoint/2010/main" val="1493062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2026-09-07T15:40:10.0140000Z</dcterms:created>
  <dcterms:modified xsi:type="dcterms:W3CDTF">2026-09-07T15:40:10.0140000Z</dcterms:modified>
</coreProperties>
</file>