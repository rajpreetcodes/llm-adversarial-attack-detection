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3716000" cy="10287000"/>
  <p:notesSz cx="1028700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title, team members, and mentor.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structure of the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problem: LLMs are everywhere and language itself is the new attack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defences are brittle; we propose a pluggable multi-signal detection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Attack literature: GCG, AutoDAN, CoT-GCG, prompt injection. Jailbreaking is now automated.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Defence literature: prevention vs detection, perplexity, classifiers, guard models, and evasion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Single-strategy, proprietary, white-box defences leave a gap for a layered model-agnostic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Agentic LLMs raise the stakes; tooling is immature; clear opportunity for a layered open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application screening prompts with three complementary detectors plus calibrated scoring and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attack categories in scope; multi-turn, multimodal, non-English and training-time attacks out of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Classification metrics plus operational metrics, benchmarked against attack suites and baselines.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Minimum hardware plus the frontend, backend, and tooling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deliverables: dataset, engine, dashboard, middleware, evaluation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 1 to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 8 to 13. Thank the panel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3716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9658" y="3143250"/>
            <a:ext cx="11576685" cy="1501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8462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Attack Detection for Large Language Models (LLMs)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176516" y="5215830"/>
            <a:ext cx="1499101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No: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1822847" y="5777805"/>
            <a:ext cx="1107733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Rajpreet Singh Khurana (K033) | Sumit Pandey (K044) | Dhruv Rathod (K055)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4437311" y="6835080"/>
            <a:ext cx="532535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Mentor : Dr. Ruchi Sharma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09600" y="9591675"/>
            <a:ext cx="15362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March 2026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066663" y="9591675"/>
            <a:ext cx="1921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3716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6275" y="2286000"/>
            <a:ext cx="12363450" cy="760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3704"/>
              </a:lnSpc>
              <a:buNone/>
            </a:pPr>
            <a:r>
              <a:rPr lang="en-US" sz="4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</a:t>
            </a:r>
            <a:endParaRPr lang="en-US" sz="4950" dirty="0"/>
          </a:p>
        </p:txBody>
      </p:sp>
      <p:sp>
        <p:nvSpPr>
          <p:cNvPr id="4" name="Text 1"/>
          <p:cNvSpPr/>
          <p:nvPr/>
        </p:nvSpPr>
        <p:spPr>
          <a:xfrm>
            <a:off x="1809750" y="3580358"/>
            <a:ext cx="41329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122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2413546" y="3580358"/>
            <a:ext cx="211498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122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809750" y="4399508"/>
            <a:ext cx="41329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122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2413546" y="4399508"/>
            <a:ext cx="604911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122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and Research Gap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809750" y="5218658"/>
            <a:ext cx="41329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122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2413546" y="5218658"/>
            <a:ext cx="6026691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122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particular topic chosen?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809750" y="6037808"/>
            <a:ext cx="41329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122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2413546" y="6037808"/>
            <a:ext cx="583825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122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and scope of the project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1809750" y="6856958"/>
            <a:ext cx="41329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122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2413546" y="6856958"/>
            <a:ext cx="586871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122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and software to be used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1809750" y="7676108"/>
            <a:ext cx="41329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122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2413546" y="7676108"/>
            <a:ext cx="294254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122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deliverables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1809750" y="8495258"/>
            <a:ext cx="41329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122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2413546" y="8495258"/>
            <a:ext cx="187007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122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13066663" y="9591675"/>
            <a:ext cx="1921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3716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6725" y="2286000"/>
            <a:ext cx="12782550" cy="760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3704"/>
              </a:lnSpc>
              <a:buNone/>
            </a:pPr>
            <a:r>
              <a:rPr lang="en-US" sz="4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4950" dirty="0"/>
          </a:p>
        </p:txBody>
      </p:sp>
      <p:sp>
        <p:nvSpPr>
          <p:cNvPr id="4" name="Text 1"/>
          <p:cNvSpPr/>
          <p:nvPr/>
        </p:nvSpPr>
        <p:spPr>
          <a:xfrm>
            <a:off x="1047750" y="3523208"/>
            <a:ext cx="379661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598861" y="3523208"/>
            <a:ext cx="11401471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such as GPT-4, Claude, and Ollama now power customer support, code assistants, healthcare triage, and enterprise chatbots.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047750" y="4753719"/>
            <a:ext cx="379661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598861" y="4753719"/>
            <a:ext cx="11401471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widespread deployment exposes a new attack surface: adversarial manipulation of </a:t>
            </a:r>
            <a:pPr algn="l" indent="0" marL="0">
              <a:lnSpc>
                <a:spcPct val="110455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itself</a:t>
            </a:r>
            <a:pPr algn="l" indent="0" marL="0">
              <a:lnSpc>
                <a:spcPct val="110455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code injection or buffer overflows.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047750" y="5984230"/>
            <a:ext cx="379661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598861" y="5984230"/>
            <a:ext cx="11401471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adversarial suffixes appended to harmless-looking prompts reliably bypass safety alignment, and transfer across model families and vendors [1].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1047750" y="7214741"/>
            <a:ext cx="379661" cy="1426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1598861" y="7214741"/>
            <a:ext cx="11401471" cy="1426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</a:t>
            </a:r>
            <a:pPr algn="l" indent="0" marL="0">
              <a:lnSpc>
                <a:spcPct val="110455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hijacks LLM-integrated applications through malicious instructions hidden in untrusted data such as web pages, emails, or documents [2].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13066663" y="9591675"/>
            <a:ext cx="1921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3716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6725" y="2286000"/>
            <a:ext cx="12782550" cy="760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3704"/>
              </a:lnSpc>
              <a:buNone/>
            </a:pPr>
            <a:r>
              <a:rPr lang="en-US" sz="4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(contd.)</a:t>
            </a:r>
            <a:endParaRPr lang="en-US" sz="4950" dirty="0"/>
          </a:p>
        </p:txBody>
      </p:sp>
      <p:sp>
        <p:nvSpPr>
          <p:cNvPr id="4" name="Text 1"/>
          <p:cNvSpPr/>
          <p:nvPr/>
        </p:nvSpPr>
        <p:spPr>
          <a:xfrm>
            <a:off x="1047750" y="3523208"/>
            <a:ext cx="379661" cy="1426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598861" y="3523208"/>
            <a:ext cx="11401471" cy="1426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LLMs gain tool access, file systems, and browsing, one undetected adversarial input can escalate into data exfiltration, unauthorised transactions, or system compromise.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047750" y="5216575"/>
            <a:ext cx="379661" cy="1426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598861" y="5216575"/>
            <a:ext cx="11401471" cy="1426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production deployments still rely on static keyword filters or base model alignment; both are brittle and evaded via paraphrasing, encoding tricks, and role-play framing.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047750" y="6909941"/>
            <a:ext cx="379661" cy="1426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598861" y="6909941"/>
            <a:ext cx="11401471" cy="1426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solution: </a:t>
            </a:r>
            <a:pPr algn="l" indent="0" marL="0">
              <a:lnSpc>
                <a:spcPct val="110455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model-agnostic, pluggable security layer that flags jailbreaks, prompt injection, and perturbed inputs before they reach the LLM, and unsafe outputs before they reach the user.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1047750" y="8603307"/>
            <a:ext cx="379661" cy="1426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1598861" y="8603307"/>
            <a:ext cx="11401471" cy="1426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statistical signal analysis, embedding-based semantic classifiers, and lightweight guard models, with no retraining of the underlying foundation model.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13066663" y="9591675"/>
            <a:ext cx="1921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3716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6725" y="2286000"/>
            <a:ext cx="12782550" cy="760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3704"/>
              </a:lnSpc>
              <a:buNone/>
            </a:pPr>
            <a:r>
              <a:rPr lang="en-US" sz="4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Survey: Adversarial Attacks</a:t>
            </a:r>
            <a:endParaRPr lang="en-US" sz="4950" dirty="0"/>
          </a:p>
        </p:txBody>
      </p:sp>
      <p:sp>
        <p:nvSpPr>
          <p:cNvPr id="4" name="Text 1"/>
          <p:cNvSpPr/>
          <p:nvPr/>
        </p:nvSpPr>
        <p:spPr>
          <a:xfrm>
            <a:off x="1047750" y="3485108"/>
            <a:ext cx="36284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1582043" y="3485108"/>
            <a:ext cx="1141879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GCG </a:t>
            </a:r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(Zou et al.): gradient-guided search finds adversarial suffixes that transfer to ChatGPT, Bard, and Claude without any access to model weights [1].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1047750" y="4645075"/>
            <a:ext cx="36284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582043" y="4645075"/>
            <a:ext cx="1141879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AutoDAN </a:t>
            </a:r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hierarchical genetic algorithm produces fluent, human-readable jailbreaks that slip past simple perplexity filters [3].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047750" y="5805041"/>
            <a:ext cx="36284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1582043" y="5805041"/>
            <a:ext cx="1141879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CoT-GCG </a:t>
            </a:r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reasoning-guided triggers improve transferability and universality [4]; Llama Guard evaluations reveal systematic alignment weaknesses [5].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1047750" y="6965007"/>
            <a:ext cx="362843" cy="1349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1582043" y="6965007"/>
            <a:ext cx="11418793" cy="1349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</a:t>
            </a:r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(Perez and Ribeiro): crafted inputs inside legitimate data cause goal hijacking and system prompt leakage [2], with no direct analogue in traditional security [6].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1047750" y="8562082"/>
            <a:ext cx="36284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1582043" y="8562082"/>
            <a:ext cx="1141879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 generation is now an automated optimisation problem, so detection must be equally automated and generalisable.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13066663" y="9591675"/>
            <a:ext cx="1921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3716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6725" y="2286000"/>
            <a:ext cx="12782550" cy="760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3704"/>
              </a:lnSpc>
              <a:buNone/>
            </a:pPr>
            <a:r>
              <a:rPr lang="en-US" sz="4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Survey: Defence Mechanisms</a:t>
            </a:r>
            <a:endParaRPr lang="en-US" sz="4950" dirty="0"/>
          </a:p>
        </p:txBody>
      </p:sp>
      <p:sp>
        <p:nvSpPr>
          <p:cNvPr id="4" name="Text 1"/>
          <p:cNvSpPr/>
          <p:nvPr/>
        </p:nvSpPr>
        <p:spPr>
          <a:xfrm>
            <a:off x="1047750" y="3485108"/>
            <a:ext cx="36284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1582043" y="3485108"/>
            <a:ext cx="1141879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Prevention-based: </a:t>
            </a:r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delimiter separation of prompts and data [7], resistance fine-tuning; limited against adaptive attacks and degrades utility [6][7].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1047750" y="4645075"/>
            <a:ext cx="36284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582043" y="4645075"/>
            <a:ext cx="1141879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filtering </a:t>
            </a:r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and windowed perplexity [9] catch low-fluency GCG-style suffixes but generalise poorly beyond them.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047750" y="5805041"/>
            <a:ext cx="36284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1582043" y="5805041"/>
            <a:ext cx="1141879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Embedding-based classifiers </a:t>
            </a:r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semantically disguised injections that perplexity methods miss entirely [10].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1047750" y="6965007"/>
            <a:ext cx="36284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1582043" y="6965007"/>
            <a:ext cx="1141879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models: </a:t>
            </a:r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Guard, ProtectAI DeBERTa, and InjecGuard (addresses over-defence) [11]; GradSafe analyses safety-critical gradients [12].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1047750" y="8124974"/>
            <a:ext cx="36284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1582043" y="8124974"/>
            <a:ext cx="1141879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Caution: </a:t>
            </a:r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obfuscation and adversarial ML evasion reached up to 100% success against six guardrail systems; no single defence is robust in isolation [13].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13066663" y="9591675"/>
            <a:ext cx="1921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3716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6725" y="2286000"/>
            <a:ext cx="12782550" cy="760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3704"/>
              </a:lnSpc>
              <a:buNone/>
            </a:pPr>
            <a:r>
              <a:rPr lang="en-US" sz="4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4950" dirty="0"/>
          </a:p>
        </p:txBody>
      </p:sp>
      <p:sp>
        <p:nvSpPr>
          <p:cNvPr id="4" name="Text 1"/>
          <p:cNvSpPr/>
          <p:nvPr/>
        </p:nvSpPr>
        <p:spPr>
          <a:xfrm>
            <a:off x="1047750" y="3523208"/>
            <a:ext cx="379661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598861" y="3523208"/>
            <a:ext cx="11401471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existing defences rely on a </a:t>
            </a:r>
            <a:pPr algn="l" indent="0" marL="0">
              <a:lnSpc>
                <a:spcPct val="110455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detection strategy </a:t>
            </a:r>
            <a:pPr algn="l" indent="0" marL="0">
              <a:lnSpc>
                <a:spcPct val="110455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effective only against specific categories of attacks.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047750" y="4753719"/>
            <a:ext cx="379661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598861" y="4753719"/>
            <a:ext cx="11401471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techniques (paraphrasing, character obfuscation, fluent jailbreak generation) successfully evade many current guardrail systems.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047750" y="5984230"/>
            <a:ext cx="379661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598861" y="5984230"/>
            <a:ext cx="11401471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state-of-the-art solutions are proprietary, model-specific, or require </a:t>
            </a:r>
            <a:pPr algn="l" indent="0" marL="0">
              <a:lnSpc>
                <a:spcPct val="110455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white-box access </a:t>
            </a:r>
            <a:pPr algn="l" indent="0" marL="0">
              <a:lnSpc>
                <a:spcPct val="110455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target model.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1047750" y="7214741"/>
            <a:ext cx="379661" cy="1426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1598861" y="7214741"/>
            <a:ext cx="11401471" cy="1426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</a:t>
            </a:r>
            <a:pPr algn="l" indent="0" marL="0">
              <a:lnSpc>
                <a:spcPct val="110455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model-agnostic framework combining complementary signals (statistical, embedding-based, LLM-as-a-judge), evaluated against both established benchmarks and adaptive evasion.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13066663" y="9591675"/>
            <a:ext cx="1921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3716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6725" y="2286000"/>
            <a:ext cx="12782550" cy="760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3704"/>
              </a:lnSpc>
              <a:buNone/>
            </a:pPr>
            <a:r>
              <a:rPr lang="en-US" sz="4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particular topic chosen?</a:t>
            </a:r>
            <a:endParaRPr lang="en-US" sz="4950" dirty="0"/>
          </a:p>
        </p:txBody>
      </p:sp>
      <p:sp>
        <p:nvSpPr>
          <p:cNvPr id="4" name="Text 1"/>
          <p:cNvSpPr/>
          <p:nvPr/>
        </p:nvSpPr>
        <p:spPr>
          <a:xfrm>
            <a:off x="1047750" y="3485108"/>
            <a:ext cx="36284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1582043" y="3485108"/>
            <a:ext cx="1141879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LLMs raise the stakes: a jailbreak that once produced an inappropriate paragraph can now delete files, leak API keys, or trigger fraudulent transactions.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1047750" y="4645075"/>
            <a:ext cx="36284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582043" y="4645075"/>
            <a:ext cx="1141879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LLM-specific threat detection tooling remains immature, fragmented across research prototypes, and inaccessible to small teams without AI security expertise.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047750" y="5805041"/>
            <a:ext cx="362843" cy="1349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1582043" y="5805041"/>
            <a:ext cx="11418793" cy="1349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guardrails are closed-source, vendor-tied, or narrowly scoped; open-source efforts implement single techniques and are rarely tested against adaptive evasion.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1047750" y="7402116"/>
            <a:ext cx="362843" cy="1349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1582043" y="7402116"/>
            <a:ext cx="11418793" cy="1349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a transparent, model-agnostic tool that layers complementary detectors, so the blind spots of one (e.g. perplexity) are covered by another (classifier, LLM judge).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1047750" y="8999190"/>
            <a:ext cx="36284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1582043" y="8999190"/>
            <a:ext cx="1141879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the team work with live adversarial benchmarks and attack reproductions rather than static, historical data.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13066663" y="9591675"/>
            <a:ext cx="1921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3716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6725" y="2286000"/>
            <a:ext cx="12782550" cy="760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3704"/>
              </a:lnSpc>
              <a:buNone/>
            </a:pPr>
            <a:r>
              <a:rPr lang="en-US" sz="4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of the Project</a:t>
            </a:r>
            <a:endParaRPr lang="en-US" sz="4950" dirty="0"/>
          </a:p>
        </p:txBody>
      </p:sp>
      <p:sp>
        <p:nvSpPr>
          <p:cNvPr id="4" name="Text 1"/>
          <p:cNvSpPr/>
          <p:nvPr/>
        </p:nvSpPr>
        <p:spPr>
          <a:xfrm>
            <a:off x="1047750" y="3485108"/>
            <a:ext cx="36284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1582043" y="3485108"/>
            <a:ext cx="1141879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</a:t>
            </a:r>
            <a:pPr algn="l" indent="0" marL="0">
              <a:lnSpc>
                <a:spcPct val="111951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Python-based application </a:t>
            </a:r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analyses prompts before they reach an LLM and, where required, examines generated responses for security risks.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1047750" y="4626025"/>
            <a:ext cx="362843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582043" y="4626025"/>
            <a:ext cx="6641589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complementary detection approaches: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809750" y="5329833"/>
            <a:ext cx="170706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2113806" y="5329833"/>
            <a:ext cx="10871077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analysis: </a:t>
            </a:r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windowed perplexity and token-distribution anomaly scoring for gradient-optimised, low-fluency suffixes.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1809750" y="6413599"/>
            <a:ext cx="170706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2113806" y="6413599"/>
            <a:ext cx="10871077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Embedding-based semantic classifier: </a:t>
            </a:r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benign and adversarial corpora to catch fluent, disguised attacks.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1809750" y="7497366"/>
            <a:ext cx="170706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2113806" y="7497366"/>
            <a:ext cx="10871077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LLM-as-a-judge: </a:t>
            </a:r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invoked only for ambiguous scores; gives an interpretable rationale at low common-path latency.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1047750" y="8638282"/>
            <a:ext cx="36284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1582043" y="8638282"/>
            <a:ext cx="1141879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are combined through a </a:t>
            </a:r>
            <a:pPr algn="l" indent="0" marL="0">
              <a:lnSpc>
                <a:spcPct val="111951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scoring layer </a:t>
            </a:r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configurable thresholds; detections are logged and audited via a dashboard.</a:t>
            </a:r>
            <a:endParaRPr lang="en-US" sz="2550" dirty="0"/>
          </a:p>
        </p:txBody>
      </p:sp>
      <p:sp>
        <p:nvSpPr>
          <p:cNvPr id="16" name="Text 13"/>
          <p:cNvSpPr/>
          <p:nvPr/>
        </p:nvSpPr>
        <p:spPr>
          <a:xfrm>
            <a:off x="13066663" y="9591675"/>
            <a:ext cx="1921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3716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6725" y="2286000"/>
            <a:ext cx="12782550" cy="760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3704"/>
              </a:lnSpc>
              <a:buNone/>
            </a:pPr>
            <a:r>
              <a:rPr lang="en-US" sz="4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Project</a:t>
            </a:r>
            <a:endParaRPr lang="en-US" sz="4950" dirty="0"/>
          </a:p>
        </p:txBody>
      </p:sp>
      <p:sp>
        <p:nvSpPr>
          <p:cNvPr id="4" name="Text 1"/>
          <p:cNvSpPr/>
          <p:nvPr/>
        </p:nvSpPr>
        <p:spPr>
          <a:xfrm>
            <a:off x="1047750" y="3485108"/>
            <a:ext cx="1278255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scope: three primary attack categories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714500" y="4195614"/>
            <a:ext cx="167283" cy="88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2015133" y="4195614"/>
            <a:ext cx="10972711" cy="88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2475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Optimisation-based jailbreaks: </a:t>
            </a:r>
            <a:pPr algn="l" indent="0" marL="0">
              <a:lnSpc>
                <a:spcPct val="111375"/>
              </a:lnSpc>
              <a:buNone/>
            </a:pPr>
            <a:r>
              <a:rPr lang="en-US" sz="2475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gradient-based adversarial suffixes and fluent variants.</a:t>
            </a:r>
            <a:endParaRPr lang="en-US" sz="2475" dirty="0"/>
          </a:p>
        </p:txBody>
      </p:sp>
      <p:sp>
        <p:nvSpPr>
          <p:cNvPr id="7" name="Text 4"/>
          <p:cNvSpPr/>
          <p:nvPr/>
        </p:nvSpPr>
        <p:spPr>
          <a:xfrm>
            <a:off x="1714500" y="5234732"/>
            <a:ext cx="167283" cy="88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2015133" y="5234732"/>
            <a:ext cx="10972711" cy="88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2475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injection: </a:t>
            </a:r>
            <a:pPr algn="l" indent="0" marL="0">
              <a:lnSpc>
                <a:spcPct val="111375"/>
              </a:lnSpc>
              <a:buNone/>
            </a:pPr>
            <a:r>
              <a:rPr lang="en-US" sz="2475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(in the user prompt) and indirect (in documents, web pages, tool outputs).</a:t>
            </a:r>
            <a:endParaRPr lang="en-US" sz="2475" dirty="0"/>
          </a:p>
        </p:txBody>
      </p:sp>
      <p:sp>
        <p:nvSpPr>
          <p:cNvPr id="9" name="Text 6"/>
          <p:cNvSpPr/>
          <p:nvPr/>
        </p:nvSpPr>
        <p:spPr>
          <a:xfrm>
            <a:off x="1714500" y="6273850"/>
            <a:ext cx="167283" cy="88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</a:t>
            </a:r>
            <a:endParaRPr lang="en-US" sz="2025" dirty="0"/>
          </a:p>
        </p:txBody>
      </p:sp>
      <p:sp>
        <p:nvSpPr>
          <p:cNvPr id="10" name="Text 7"/>
          <p:cNvSpPr/>
          <p:nvPr/>
        </p:nvSpPr>
        <p:spPr>
          <a:xfrm>
            <a:off x="2015133" y="6273850"/>
            <a:ext cx="10972711" cy="88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2475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 and persona-based jailbreaks </a:t>
            </a:r>
            <a:pPr algn="l" indent="0" marL="0">
              <a:lnSpc>
                <a:spcPct val="111375"/>
              </a:lnSpc>
              <a:buNone/>
            </a:pPr>
            <a:r>
              <a:rPr lang="en-US" sz="2475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bypass alignment through fictional framing.</a:t>
            </a:r>
            <a:endParaRPr lang="en-US" sz="2475" dirty="0"/>
          </a:p>
        </p:txBody>
      </p:sp>
      <p:sp>
        <p:nvSpPr>
          <p:cNvPr id="11" name="Text 8"/>
          <p:cNvSpPr/>
          <p:nvPr/>
        </p:nvSpPr>
        <p:spPr>
          <a:xfrm>
            <a:off x="1047750" y="7370118"/>
            <a:ext cx="354360" cy="88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2475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475" dirty="0"/>
          </a:p>
        </p:txBody>
      </p:sp>
      <p:sp>
        <p:nvSpPr>
          <p:cNvPr id="12" name="Text 9"/>
          <p:cNvSpPr/>
          <p:nvPr/>
        </p:nvSpPr>
        <p:spPr>
          <a:xfrm>
            <a:off x="1573560" y="7370118"/>
            <a:ext cx="11427531" cy="88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2475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AdvBench, in-the-wild jailbreak datasets, and open injection corpora, plus benign instruction sets for false-positive and over-defence rates.</a:t>
            </a:r>
            <a:endParaRPr lang="en-US" sz="2475" dirty="0"/>
          </a:p>
        </p:txBody>
      </p:sp>
      <p:sp>
        <p:nvSpPr>
          <p:cNvPr id="13" name="Text 10"/>
          <p:cNvSpPr/>
          <p:nvPr/>
        </p:nvSpPr>
        <p:spPr>
          <a:xfrm>
            <a:off x="1047750" y="8466386"/>
            <a:ext cx="354360" cy="88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2475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1573560" y="8466386"/>
            <a:ext cx="11427531" cy="88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2475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</a:t>
            </a:r>
            <a:pPr algn="l" indent="0" marL="0">
              <a:lnSpc>
                <a:spcPct val="111375"/>
              </a:lnSpc>
              <a:buNone/>
            </a:pPr>
            <a:r>
              <a:rPr lang="en-US" sz="2475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attacks, multimodal injections, non-English prompts, and training-time attacks (data poisoning, backdoors).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1047750" y="9562654"/>
            <a:ext cx="354360" cy="88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2475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475" dirty="0"/>
          </a:p>
        </p:txBody>
      </p:sp>
      <p:sp>
        <p:nvSpPr>
          <p:cNvPr id="16" name="Text 13"/>
          <p:cNvSpPr/>
          <p:nvPr/>
        </p:nvSpPr>
        <p:spPr>
          <a:xfrm>
            <a:off x="1573560" y="9562654"/>
            <a:ext cx="11427531" cy="88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2475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purely on text inputs and outputs: deployable with both open-source and closed, API-only LLMs.</a:t>
            </a:r>
            <a:endParaRPr lang="en-US" sz="2475" dirty="0"/>
          </a:p>
        </p:txBody>
      </p:sp>
      <p:sp>
        <p:nvSpPr>
          <p:cNvPr id="17" name="Text 14"/>
          <p:cNvSpPr/>
          <p:nvPr/>
        </p:nvSpPr>
        <p:spPr>
          <a:xfrm>
            <a:off x="12950875" y="9591675"/>
            <a:ext cx="3079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3716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6725" y="2286000"/>
            <a:ext cx="12782550" cy="760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3704"/>
              </a:lnSpc>
              <a:buNone/>
            </a:pPr>
            <a:r>
              <a:rPr lang="en-US" sz="4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4950" dirty="0"/>
          </a:p>
        </p:txBody>
      </p:sp>
      <p:sp>
        <p:nvSpPr>
          <p:cNvPr id="4" name="Text 1"/>
          <p:cNvSpPr/>
          <p:nvPr/>
        </p:nvSpPr>
        <p:spPr>
          <a:xfrm>
            <a:off x="1047750" y="3523208"/>
            <a:ext cx="6076950" cy="513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2775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performance</a:t>
            </a:r>
            <a:endParaRPr lang="en-US" sz="2775" dirty="0"/>
          </a:p>
        </p:txBody>
      </p:sp>
      <p:sp>
        <p:nvSpPr>
          <p:cNvPr id="5" name="Text 2"/>
          <p:cNvSpPr/>
          <p:nvPr/>
        </p:nvSpPr>
        <p:spPr>
          <a:xfrm>
            <a:off x="1047750" y="4265563"/>
            <a:ext cx="36284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1562993" y="4265563"/>
            <a:ext cx="5159535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and F1-score.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047750" y="5406479"/>
            <a:ext cx="36284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562993" y="5406479"/>
            <a:ext cx="5159535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 and False Negative Rate.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1047750" y="6547396"/>
            <a:ext cx="36284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1562993" y="6547396"/>
            <a:ext cx="5159535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and ROC-AUC across decision thresholds.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7143750" y="3523208"/>
            <a:ext cx="6076950" cy="513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2775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performance</a:t>
            </a:r>
            <a:endParaRPr lang="en-US" sz="2775" dirty="0"/>
          </a:p>
        </p:txBody>
      </p:sp>
      <p:sp>
        <p:nvSpPr>
          <p:cNvPr id="12" name="Text 9"/>
          <p:cNvSpPr/>
          <p:nvPr/>
        </p:nvSpPr>
        <p:spPr>
          <a:xfrm>
            <a:off x="7143750" y="4265563"/>
            <a:ext cx="362843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7658993" y="4265563"/>
            <a:ext cx="5353020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latency added by the layer.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7143750" y="4969371"/>
            <a:ext cx="362843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7658993" y="4969371"/>
            <a:ext cx="5121206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in prompts per second.</a:t>
            </a:r>
            <a:endParaRPr lang="en-US" sz="2550" dirty="0"/>
          </a:p>
        </p:txBody>
      </p:sp>
      <p:sp>
        <p:nvSpPr>
          <p:cNvPr id="16" name="Text 13"/>
          <p:cNvSpPr/>
          <p:nvPr/>
        </p:nvSpPr>
        <p:spPr>
          <a:xfrm>
            <a:off x="7143750" y="5673179"/>
            <a:ext cx="362843" cy="1786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550" dirty="0"/>
          </a:p>
        </p:txBody>
      </p:sp>
      <p:sp>
        <p:nvSpPr>
          <p:cNvPr id="17" name="Text 14"/>
          <p:cNvSpPr/>
          <p:nvPr/>
        </p:nvSpPr>
        <p:spPr>
          <a:xfrm>
            <a:off x="7658993" y="5673179"/>
            <a:ext cx="5159535" cy="1786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vs jailbreaks, injection, role-play, paraphrasing, and obfuscation, compared against baselines.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12950875" y="9591675"/>
            <a:ext cx="3079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3716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6725" y="2238375"/>
            <a:ext cx="12782550" cy="760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3704"/>
              </a:lnSpc>
              <a:buNone/>
            </a:pPr>
            <a:r>
              <a:rPr lang="en-US" sz="4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and Software Requirements</a:t>
            </a:r>
            <a:endParaRPr lang="en-US" sz="4950" dirty="0"/>
          </a:p>
        </p:txBody>
      </p:sp>
      <p:sp>
        <p:nvSpPr>
          <p:cNvPr id="4" name="Text 1"/>
          <p:cNvSpPr/>
          <p:nvPr/>
        </p:nvSpPr>
        <p:spPr>
          <a:xfrm>
            <a:off x="1047750" y="3399383"/>
            <a:ext cx="605599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(minimum)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047750" y="3959423"/>
            <a:ext cx="6055995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Quad-core Intel Core i5 / AMD Ryzen 5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47750" y="4466034"/>
            <a:ext cx="6055995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GB RAM, 100 GB free disk space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47750" y="4972645"/>
            <a:ext cx="6055995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or Windows with WSL2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47750" y="5479256"/>
            <a:ext cx="6055995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internet, 10 Mbps (LLM API access)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162800" y="3399383"/>
            <a:ext cx="605599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162800" y="3959423"/>
            <a:ext cx="6055995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7162800" y="4466034"/>
            <a:ext cx="6055995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with Tailwind CSS and Material UI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162800" y="4972645"/>
            <a:ext cx="6055995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/ D3.js for attack analytics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047750" y="6195417"/>
            <a:ext cx="605599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047750" y="6755457"/>
            <a:ext cx="5670614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(FastAPI) detection engine; Node.js + Express gateway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047750" y="7635329"/>
            <a:ext cx="6055995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MongoDB logging; Redis caching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1047750" y="8141940"/>
            <a:ext cx="5670614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Transformers and PyTorch; Docker Compose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7162800" y="6195417"/>
            <a:ext cx="605599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7162800" y="6755457"/>
            <a:ext cx="6055995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PyCharm; Git and GitHub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7162800" y="7262068"/>
            <a:ext cx="5670614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GCP for cloud deployment and GPU inference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7162800" y="8141940"/>
            <a:ext cx="5670614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&amp; Biases or MLflow for experiment tracking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12950875" y="9591675"/>
            <a:ext cx="3079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3716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6725" y="2286000"/>
            <a:ext cx="12782550" cy="760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3704"/>
              </a:lnSpc>
              <a:buNone/>
            </a:pPr>
            <a:r>
              <a:rPr lang="en-US" sz="4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Deliverables</a:t>
            </a:r>
            <a:endParaRPr lang="en-US" sz="4950" dirty="0"/>
          </a:p>
        </p:txBody>
      </p:sp>
      <p:sp>
        <p:nvSpPr>
          <p:cNvPr id="4" name="Text 1"/>
          <p:cNvSpPr/>
          <p:nvPr/>
        </p:nvSpPr>
        <p:spPr>
          <a:xfrm>
            <a:off x="1047750" y="3485108"/>
            <a:ext cx="36284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1582043" y="3485108"/>
            <a:ext cx="1141879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dataset </a:t>
            </a:r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benign, jailbreak, and prompt-injection prompts from open corpora and reproduced attacks (e.g. GCG-style suffixes).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1047750" y="4645075"/>
            <a:ext cx="36284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582043" y="4645075"/>
            <a:ext cx="1141879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 </a:t>
            </a:r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prompts (and optionally outputs) with perplexity, embedding, and LLM-judge signals, exposed as a lightweight model-agnostic API.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047750" y="5805041"/>
            <a:ext cx="36284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1582043" y="5805041"/>
            <a:ext cx="1141879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dashboard </a:t>
            </a:r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monitor flagged prompts, inspect rationale, review error trends, and tune sensitivity.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1047750" y="6965007"/>
            <a:ext cx="36284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1582043" y="6965007"/>
            <a:ext cx="1141879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middleware </a:t>
            </a:r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as a proxy between an LLM-integrated application and the LLM provider, routed through the detection engine.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1047750" y="8124974"/>
            <a:ext cx="36284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❑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1582043" y="8124974"/>
            <a:ext cx="1141879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report </a:t>
            </a:r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accuracy, false-positive rate, latency overhead, and robustness to evasion attempts aimed at the detector itself.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12950875" y="9591675"/>
            <a:ext cx="3079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3716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6725" y="2238375"/>
            <a:ext cx="12782550" cy="760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3704"/>
              </a:lnSpc>
              <a:buNone/>
            </a:pPr>
            <a:r>
              <a:rPr lang="en-US" sz="4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4950" dirty="0"/>
          </a:p>
        </p:txBody>
      </p:sp>
      <p:sp>
        <p:nvSpPr>
          <p:cNvPr id="4" name="Text 1"/>
          <p:cNvSpPr/>
          <p:nvPr/>
        </p:nvSpPr>
        <p:spPr>
          <a:xfrm>
            <a:off x="1047750" y="3399383"/>
            <a:ext cx="11969115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A. Zou, Z. Wang, N. Carlini, M. Nasr, J. Z. Kolter, and M. Fredrikson, "Universal and Transferable Adversarial Attacks on Aligned Language Models," arXiv:2307.15043, 2023.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047750" y="4321225"/>
            <a:ext cx="11969115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F. Perez and I. Ribeiro, "Ignore Previous Prompt: Attack Techniques For Language Models," arXiv:2211.09527, 2022.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047750" y="5243066"/>
            <a:ext cx="11969115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X. Liu, N. Xu, M. Chen, and C. Xiao, "AutoDAN: Generating Stealthy Jailbreak Prompts on Aligned Large Language Models," arXiv:2310.04451, 2023.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47750" y="6164907"/>
            <a:ext cx="1278255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J. Su, "Enhancing Adversarial Attacks through Chain of Thought," arXiv:2410.21791, 2024.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47750" y="6740128"/>
            <a:ext cx="11969115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H. Inan et al., "Llama Guard: LLM-based Input-Output Safeguard for Human-AI Conversations," arXiv:2312.06674, 2023.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047750" y="7661970"/>
            <a:ext cx="11969115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Y. Liu, Y. Jia, R. Geng, J. Jia, and N. Z. Gong, "Formalizing and Benchmarking Prompt Injection Attacks and Defenses," arXiv:2310.12815, 2023.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047750" y="8583811"/>
            <a:ext cx="11969115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J. Yi, Y. Xie, B. Zhu, E. Kiciman, G. Sun, X. Xie, and F. Wu, "Benchmarking and Defending Against Indirect Prompt Injection Attacks on Large Language Models," arXiv:2312.14197, 2023.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2950875" y="9591675"/>
            <a:ext cx="3079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3716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6725" y="2238375"/>
            <a:ext cx="12782550" cy="760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3704"/>
              </a:lnSpc>
              <a:buNone/>
            </a:pPr>
            <a:r>
              <a:rPr lang="en-US" sz="4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(contd.)</a:t>
            </a:r>
            <a:endParaRPr lang="en-US" sz="4950" dirty="0"/>
          </a:p>
        </p:txBody>
      </p:sp>
      <p:sp>
        <p:nvSpPr>
          <p:cNvPr id="4" name="Text 1"/>
          <p:cNvSpPr/>
          <p:nvPr/>
        </p:nvSpPr>
        <p:spPr>
          <a:xfrm>
            <a:off x="1047750" y="3399383"/>
            <a:ext cx="1278255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G. Alon and M. Kamfonas, "Detecting Language Model Attacks with Perplexity," arXiv:2308.14132, 2023.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047750" y="3974604"/>
            <a:ext cx="11969115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N. Jain et al., "Baseline Defenses for Adversarial Attacks Against Aligned Language Models," arXiv:2309.00614, 2023.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047750" y="4896445"/>
            <a:ext cx="11969115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G. Zizzo et al., "Adversarial Prompt Evaluation: Systematic Benchmarking of Guardrails Against Prompt Input Attacks on LLMs," arXiv:2502.15427, 2025.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47750" y="5818287"/>
            <a:ext cx="11969115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H. Li and X. Liu, "InjecGuard: Benchmarking and Mitigating Over-defense in Prompt Injection Guardrail Models," arXiv:2410.22770, 2024.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47750" y="6740128"/>
            <a:ext cx="11969115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Y. Xie, M. Fang, R. Pi, and N. Gong, "GradSafe: Detecting Jailbreak Prompts for LLMs via Safety-Critical Gradient Analysis," arXiv:2402.13494, 2024.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047750" y="7661970"/>
            <a:ext cx="11969115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W. Hackett, L. Birch, S. Trawicki, N. Suri, and P. Garraghan, "Bypassing LLM Guardrails: An Empirical Analysis of Evasion Attacks against Prompt Injection and Jailbreak Detection Systems," arXiv:2504.11168, 2025.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466725" y="8774311"/>
            <a:ext cx="127825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98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12950875" y="9591675"/>
            <a:ext cx="3079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2026-07-20T17:03:29Z</dcterms:created>
  <dcterms:modified xsi:type="dcterms:W3CDTF">2026-07-20T17:03:29Z</dcterms:modified>
</cp:coreProperties>
</file>